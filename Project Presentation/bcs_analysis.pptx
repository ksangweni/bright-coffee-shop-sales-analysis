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Ex1.xml" ContentType="application/vnd.ms-office.chartex+xml"/>
  <Override PartName="/ppt/charts/style4.xml" ContentType="application/vnd.ms-office.chartstyle+xml"/>
  <Override PartName="/ppt/charts/colors4.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4"/>
  </p:sldMasterIdLst>
  <p:notesMasterIdLst>
    <p:notesMasterId r:id="rId18"/>
  </p:notesMasterIdLst>
  <p:handoutMasterIdLst>
    <p:handoutMasterId r:id="rId19"/>
  </p:handoutMasterIdLst>
  <p:sldIdLst>
    <p:sldId id="256" r:id="rId5"/>
    <p:sldId id="263" r:id="rId6"/>
    <p:sldId id="262" r:id="rId7"/>
    <p:sldId id="258" r:id="rId8"/>
    <p:sldId id="264" r:id="rId9"/>
    <p:sldId id="265" r:id="rId10"/>
    <p:sldId id="266" r:id="rId11"/>
    <p:sldId id="267" r:id="rId12"/>
    <p:sldId id="268" r:id="rId13"/>
    <p:sldId id="269" r:id="rId14"/>
    <p:sldId id="270" r:id="rId15"/>
    <p:sldId id="271"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DEF42C-BD37-4F46-8A8B-3B0F706BB150}" v="24" dt="2026-03-30T20:34:23.7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p:scale>
          <a:sx n="90" d="100"/>
          <a:sy n="90" d="100"/>
        </p:scale>
        <p:origin x="87" y="156"/>
      </p:cViewPr>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ketso Sangweni" userId="5eb9d7dceb6f5624" providerId="LiveId" clId="{970E2B48-C54A-48C4-A03B-907CF41E4192}"/>
    <pc:docChg chg="undo custSel delSld modSld">
      <pc:chgData name="Keketso Sangweni" userId="5eb9d7dceb6f5624" providerId="LiveId" clId="{970E2B48-C54A-48C4-A03B-907CF41E4192}" dt="2026-03-30T20:40:11.929" v="108" actId="20577"/>
      <pc:docMkLst>
        <pc:docMk/>
      </pc:docMkLst>
      <pc:sldChg chg="del">
        <pc:chgData name="Keketso Sangweni" userId="5eb9d7dceb6f5624" providerId="LiveId" clId="{970E2B48-C54A-48C4-A03B-907CF41E4192}" dt="2026-03-30T20:36:08.766" v="58" actId="2696"/>
        <pc:sldMkLst>
          <pc:docMk/>
          <pc:sldMk cId="816733363" sldId="259"/>
        </pc:sldMkLst>
      </pc:sldChg>
      <pc:sldChg chg="addSp delSp modSp mod addAnim">
        <pc:chgData name="Keketso Sangweni" userId="5eb9d7dceb6f5624" providerId="LiveId" clId="{970E2B48-C54A-48C4-A03B-907CF41E4192}" dt="2026-03-30T20:36:44.639" v="63"/>
        <pc:sldMkLst>
          <pc:docMk/>
          <pc:sldMk cId="2157044452" sldId="260"/>
        </pc:sldMkLst>
        <pc:spChg chg="mod ord">
          <ac:chgData name="Keketso Sangweni" userId="5eb9d7dceb6f5624" providerId="LiveId" clId="{970E2B48-C54A-48C4-A03B-907CF41E4192}" dt="2026-03-30T20:36:44.632" v="62" actId="26606"/>
          <ac:spMkLst>
            <pc:docMk/>
            <pc:sldMk cId="2157044452" sldId="260"/>
            <ac:spMk id="2" creationId="{BD904461-E85A-43E7-AA0B-B7DF596CA62F}"/>
          </ac:spMkLst>
        </pc:spChg>
        <pc:spChg chg="del mod">
          <ac:chgData name="Keketso Sangweni" userId="5eb9d7dceb6f5624" providerId="LiveId" clId="{970E2B48-C54A-48C4-A03B-907CF41E4192}" dt="2026-03-30T20:36:31.052" v="60" actId="21"/>
          <ac:spMkLst>
            <pc:docMk/>
            <pc:sldMk cId="2157044452" sldId="260"/>
            <ac:spMk id="3" creationId="{9BBDDBE1-00CD-4A90-9BA9-5E79F6C6FDE0}"/>
          </ac:spMkLst>
        </pc:spChg>
        <pc:spChg chg="del">
          <ac:chgData name="Keketso Sangweni" userId="5eb9d7dceb6f5624" providerId="LiveId" clId="{970E2B48-C54A-48C4-A03B-907CF41E4192}" dt="2026-03-30T20:36:44.632" v="62" actId="26606"/>
          <ac:spMkLst>
            <pc:docMk/>
            <pc:sldMk cId="2157044452" sldId="260"/>
            <ac:spMk id="10" creationId="{E1063F05-99EF-4DA3-B595-4E26670F29F9}"/>
          </ac:spMkLst>
        </pc:spChg>
        <pc:spChg chg="add">
          <ac:chgData name="Keketso Sangweni" userId="5eb9d7dceb6f5624" providerId="LiveId" clId="{970E2B48-C54A-48C4-A03B-907CF41E4192}" dt="2026-03-30T20:36:44.632" v="62" actId="26606"/>
          <ac:spMkLst>
            <pc:docMk/>
            <pc:sldMk cId="2157044452" sldId="260"/>
            <ac:spMk id="17" creationId="{8CD2B798-7994-4548-A2BE-4AEF9C1A5FAE}"/>
          </ac:spMkLst>
        </pc:spChg>
        <pc:spChg chg="add">
          <ac:chgData name="Keketso Sangweni" userId="5eb9d7dceb6f5624" providerId="LiveId" clId="{970E2B48-C54A-48C4-A03B-907CF41E4192}" dt="2026-03-30T20:36:44.632" v="62" actId="26606"/>
          <ac:spMkLst>
            <pc:docMk/>
            <pc:sldMk cId="2157044452" sldId="260"/>
            <ac:spMk id="19" creationId="{E6162320-3B67-42BB-AF9D-939326E6489E}"/>
          </ac:spMkLst>
        </pc:spChg>
        <pc:spChg chg="add">
          <ac:chgData name="Keketso Sangweni" userId="5eb9d7dceb6f5624" providerId="LiveId" clId="{970E2B48-C54A-48C4-A03B-907CF41E4192}" dt="2026-03-30T20:36:44.632" v="62" actId="26606"/>
          <ac:spMkLst>
            <pc:docMk/>
            <pc:sldMk cId="2157044452" sldId="260"/>
            <ac:spMk id="23" creationId="{B8D726A5-7900-41B4-8D49-49B4A2010E7C}"/>
          </ac:spMkLst>
        </pc:spChg>
        <pc:picChg chg="mod">
          <ac:chgData name="Keketso Sangweni" userId="5eb9d7dceb6f5624" providerId="LiveId" clId="{970E2B48-C54A-48C4-A03B-907CF41E4192}" dt="2026-03-30T20:36:44.632" v="62" actId="26606"/>
          <ac:picMkLst>
            <pc:docMk/>
            <pc:sldMk cId="2157044452" sldId="260"/>
            <ac:picMk id="5" creationId="{4BB88093-7048-42AA-9AFC-B007B4E797A0}"/>
          </ac:picMkLst>
        </pc:picChg>
        <pc:picChg chg="del">
          <ac:chgData name="Keketso Sangweni" userId="5eb9d7dceb6f5624" providerId="LiveId" clId="{970E2B48-C54A-48C4-A03B-907CF41E4192}" dt="2026-03-30T20:36:33.944" v="61" actId="478"/>
          <ac:picMkLst>
            <pc:docMk/>
            <pc:sldMk cId="2157044452" sldId="260"/>
            <ac:picMk id="7" creationId="{1BCFD98B-5534-433A-A8E6-4DE2A04C391B}"/>
          </ac:picMkLst>
        </pc:picChg>
        <pc:cxnChg chg="del">
          <ac:chgData name="Keketso Sangweni" userId="5eb9d7dceb6f5624" providerId="LiveId" clId="{970E2B48-C54A-48C4-A03B-907CF41E4192}" dt="2026-03-30T20:36:44.632" v="62" actId="26606"/>
          <ac:cxnSpMkLst>
            <pc:docMk/>
            <pc:sldMk cId="2157044452" sldId="260"/>
            <ac:cxnSpMk id="12" creationId="{E0A835C2-2B9B-4174-AA2C-60A4F1311908}"/>
          </ac:cxnSpMkLst>
        </pc:cxnChg>
        <pc:cxnChg chg="add">
          <ac:chgData name="Keketso Sangweni" userId="5eb9d7dceb6f5624" providerId="LiveId" clId="{970E2B48-C54A-48C4-A03B-907CF41E4192}" dt="2026-03-30T20:36:44.632" v="62" actId="26606"/>
          <ac:cxnSpMkLst>
            <pc:docMk/>
            <pc:sldMk cId="2157044452" sldId="260"/>
            <ac:cxnSpMk id="21" creationId="{6722E143-84C1-4F95-937C-78B92D2811CF}"/>
          </ac:cxnSpMkLst>
        </pc:cxnChg>
        <pc:cxnChg chg="add">
          <ac:chgData name="Keketso Sangweni" userId="5eb9d7dceb6f5624" providerId="LiveId" clId="{970E2B48-C54A-48C4-A03B-907CF41E4192}" dt="2026-03-30T20:36:44.632" v="62" actId="26606"/>
          <ac:cxnSpMkLst>
            <pc:docMk/>
            <pc:sldMk cId="2157044452" sldId="260"/>
            <ac:cxnSpMk id="25" creationId="{46E49661-E258-450C-8150-A91A6B30D1CD}"/>
          </ac:cxnSpMkLst>
        </pc:cxnChg>
      </pc:sldChg>
      <pc:sldChg chg="modSp mod">
        <pc:chgData name="Keketso Sangweni" userId="5eb9d7dceb6f5624" providerId="LiveId" clId="{970E2B48-C54A-48C4-A03B-907CF41E4192}" dt="2026-03-30T20:40:11.929" v="108" actId="20577"/>
        <pc:sldMkLst>
          <pc:docMk/>
          <pc:sldMk cId="4283909807" sldId="263"/>
        </pc:sldMkLst>
        <pc:spChg chg="mod">
          <ac:chgData name="Keketso Sangweni" userId="5eb9d7dceb6f5624" providerId="LiveId" clId="{970E2B48-C54A-48C4-A03B-907CF41E4192}" dt="2026-03-30T20:40:11.929" v="108" actId="20577"/>
          <ac:spMkLst>
            <pc:docMk/>
            <pc:sldMk cId="4283909807" sldId="263"/>
            <ac:spMk id="3" creationId="{E13AD189-7F5C-89F3-07ED-3D4456F61E09}"/>
          </ac:spMkLst>
        </pc:spChg>
      </pc:sldChg>
      <pc:sldChg chg="addSp delSp modSp mod">
        <pc:chgData name="Keketso Sangweni" userId="5eb9d7dceb6f5624" providerId="LiveId" clId="{970E2B48-C54A-48C4-A03B-907CF41E4192}" dt="2026-03-30T20:35:54.024" v="57" actId="14100"/>
        <pc:sldMkLst>
          <pc:docMk/>
          <pc:sldMk cId="568205697" sldId="271"/>
        </pc:sldMkLst>
        <pc:spChg chg="mod">
          <ac:chgData name="Keketso Sangweni" userId="5eb9d7dceb6f5624" providerId="LiveId" clId="{970E2B48-C54A-48C4-A03B-907CF41E4192}" dt="2026-03-30T20:35:54.024" v="57" actId="14100"/>
          <ac:spMkLst>
            <pc:docMk/>
            <pc:sldMk cId="568205697" sldId="271"/>
            <ac:spMk id="2" creationId="{667C2CE0-7D89-3004-601B-49D8006C71E9}"/>
          </ac:spMkLst>
        </pc:spChg>
        <pc:spChg chg="add del">
          <ac:chgData name="Keketso Sangweni" userId="5eb9d7dceb6f5624" providerId="LiveId" clId="{970E2B48-C54A-48C4-A03B-907CF41E4192}" dt="2026-03-30T20:35:43.446" v="56" actId="26606"/>
          <ac:spMkLst>
            <pc:docMk/>
            <pc:sldMk cId="568205697" sldId="271"/>
            <ac:spMk id="16" creationId="{EC40E17A-97FD-E7C7-9847-A04945E4005A}"/>
          </ac:spMkLst>
        </pc:spChg>
        <pc:graphicFrameChg chg="mod modGraphic">
          <ac:chgData name="Keketso Sangweni" userId="5eb9d7dceb6f5624" providerId="LiveId" clId="{970E2B48-C54A-48C4-A03B-907CF41E4192}" dt="2026-03-30T20:35:43.446" v="56" actId="26606"/>
          <ac:graphicFrameMkLst>
            <pc:docMk/>
            <pc:sldMk cId="568205697" sldId="271"/>
            <ac:graphicFrameMk id="4" creationId="{F5837637-5000-8DA8-7301-CE28F7AD8F5E}"/>
          </ac:graphicFrameMkLst>
        </pc:graphicFrameChg>
        <pc:picChg chg="mod">
          <ac:chgData name="Keketso Sangweni" userId="5eb9d7dceb6f5624" providerId="LiveId" clId="{970E2B48-C54A-48C4-A03B-907CF41E4192}" dt="2026-03-30T20:35:43.446" v="56" actId="26606"/>
          <ac:picMkLst>
            <pc:docMk/>
            <pc:sldMk cId="568205697" sldId="271"/>
            <ac:picMk id="7" creationId="{D58E4D9A-39DA-F45C-BB58-5A34E5F91B73}"/>
          </ac:picMkLst>
        </pc:picChg>
        <pc:cxnChg chg="add del">
          <ac:chgData name="Keketso Sangweni" userId="5eb9d7dceb6f5624" providerId="LiveId" clId="{970E2B48-C54A-48C4-A03B-907CF41E4192}" dt="2026-03-30T20:35:43.446" v="56" actId="26606"/>
          <ac:cxnSpMkLst>
            <pc:docMk/>
            <pc:sldMk cId="568205697" sldId="271"/>
            <ac:cxnSpMk id="18" creationId="{D28EED38-2FD0-9D37-6CC1-F5100A869150}"/>
          </ac:cxnSpMkLst>
        </pc:cxnChg>
        <pc:cxnChg chg="add del">
          <ac:chgData name="Keketso Sangweni" userId="5eb9d7dceb6f5624" providerId="LiveId" clId="{970E2B48-C54A-48C4-A03B-907CF41E4192}" dt="2026-03-30T20:35:43.446" v="56" actId="26606"/>
          <ac:cxnSpMkLst>
            <pc:docMk/>
            <pc:sldMk cId="568205697" sldId="271"/>
            <ac:cxnSpMk id="23" creationId="{3FEFDF7D-B17C-4F16-B8BE-C55FFC7E295E}"/>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5eb9d7dceb6f5624/Documents/Data%20Profession/Bright%20Learn/Projects/Bright%20Coffee%20Shop/bcs_analysis_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5eb9d7dceb6f5624/Documents/Data%20Profession/Bright%20Learn/Projects/Bright%20Coffee%20Shop/bcs_analysis_fina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5eb9d7dceb6f5624/Documents/Data%20Profession/Bright%20Learn/Projects/Bright%20Coffee%20Shop/bcs_analysis_final.xlsx" TargetMode="External"/><Relationship Id="rId2" Type="http://schemas.microsoft.com/office/2011/relationships/chartColorStyle" Target="colors3.xml"/><Relationship Id="rId1" Type="http://schemas.microsoft.com/office/2011/relationships/chartStyle" Target="style3.xml"/></Relationships>
</file>

<file path=ppt/charts/_rels/chartEx1.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https://d.docs.live.net/5eb9d7dceb6f5624/Documents/Data%20Profession/Bright%20Learn/Projects/Bright%20Coffee%20Shop/bcs_analysis_fina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[bcs_analysis_final.xlsx]Revenue Analysis!PivotTable1</c:name>
    <c:fmtId val="24"/>
  </c:pivotSource>
  <c:chart>
    <c:title>
      <c:tx>
        <c:rich>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r>
              <a:rPr lang="en-ZA"/>
              <a:t>Revenue</a:t>
            </a:r>
            <a:r>
              <a:rPr lang="en-ZA" baseline="0"/>
              <a:t> By Month</a:t>
            </a:r>
            <a:endParaRPr lang="en-ZA"/>
          </a:p>
        </c:rich>
      </c:tx>
      <c:overlay val="0"/>
      <c:spPr>
        <a:noFill/>
        <a:ln>
          <a:noFill/>
        </a:ln>
        <a:effectLst/>
      </c:spPr>
      <c:txPr>
        <a:bodyPr rot="0" spcFirstLastPara="1" vertOverflow="ellipsis" vert="horz" wrap="square" anchor="ctr" anchorCtr="1"/>
        <a:lstStyle/>
        <a:p>
          <a:pPr>
            <a:defRPr sz="2000" b="0" i="0" u="none" strike="noStrike" kern="1200" cap="none" spc="0" normalizeH="0" baseline="0">
              <a:solidFill>
                <a:schemeClr val="tx1">
                  <a:lumMod val="65000"/>
                  <a:lumOff val="35000"/>
                </a:schemeClr>
              </a:solidFill>
              <a:latin typeface="+mj-lt"/>
              <a:ea typeface="+mj-ea"/>
              <a:cs typeface="+mj-cs"/>
            </a:defRPr>
          </a:pPr>
          <a:endParaRPr lang="en-ZA"/>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7927763337344058"/>
          <c:y val="0.1040174214021551"/>
          <c:w val="0.81670742725846657"/>
          <c:h val="0.77957524646112308"/>
        </c:manualLayout>
      </c:layout>
      <c:bar3DChart>
        <c:barDir val="col"/>
        <c:grouping val="clustered"/>
        <c:varyColors val="0"/>
        <c:ser>
          <c:idx val="0"/>
          <c:order val="0"/>
          <c:tx>
            <c:strRef>
              <c:f>'Revenue Analysis'!$B$3:$B$4</c:f>
              <c:strCache>
                <c:ptCount val="1"/>
                <c:pt idx="0">
                  <c:v>Astoria</c:v>
                </c:pt>
              </c:strCache>
            </c:strRef>
          </c:tx>
          <c:spPr>
            <a:solidFill>
              <a:schemeClr val="accent1"/>
            </a:solidFill>
            <a:ln>
              <a:noFill/>
            </a:ln>
            <a:effectLst/>
            <a:sp3d/>
          </c:spPr>
          <c:invertIfNegative val="0"/>
          <c:cat>
            <c:strRef>
              <c:f>'Revenue Analysis'!$A$5:$A$11</c:f>
              <c:strCache>
                <c:ptCount val="6"/>
                <c:pt idx="0">
                  <c:v>Jan</c:v>
                </c:pt>
                <c:pt idx="1">
                  <c:v>Feb</c:v>
                </c:pt>
                <c:pt idx="2">
                  <c:v>Mar</c:v>
                </c:pt>
                <c:pt idx="3">
                  <c:v>Apr</c:v>
                </c:pt>
                <c:pt idx="4">
                  <c:v>May</c:v>
                </c:pt>
                <c:pt idx="5">
                  <c:v>Jun</c:v>
                </c:pt>
              </c:strCache>
            </c:strRef>
          </c:cat>
          <c:val>
            <c:numRef>
              <c:f>'Revenue Analysis'!$B$5:$B$11</c:f>
              <c:numCache>
                <c:formatCode>"R"#\ ##0.00;[Red]"R"#\ ##0.00</c:formatCode>
                <c:ptCount val="6"/>
                <c:pt idx="0">
                  <c:v>27313.660000000076</c:v>
                </c:pt>
                <c:pt idx="1">
                  <c:v>25105.340000000077</c:v>
                </c:pt>
                <c:pt idx="2">
                  <c:v>32835.430000000029</c:v>
                </c:pt>
                <c:pt idx="3">
                  <c:v>39477.609999999833</c:v>
                </c:pt>
                <c:pt idx="4">
                  <c:v>52428.759999999311</c:v>
                </c:pt>
                <c:pt idx="5">
                  <c:v>55083.109999999266</c:v>
                </c:pt>
              </c:numCache>
            </c:numRef>
          </c:val>
          <c:extLst>
            <c:ext xmlns:c16="http://schemas.microsoft.com/office/drawing/2014/chart" uri="{C3380CC4-5D6E-409C-BE32-E72D297353CC}">
              <c16:uniqueId val="{00000000-6D26-4EC7-9B81-0C5E7B6ECD84}"/>
            </c:ext>
          </c:extLst>
        </c:ser>
        <c:ser>
          <c:idx val="1"/>
          <c:order val="1"/>
          <c:tx>
            <c:strRef>
              <c:f>'Revenue Analysis'!$C$3:$C$4</c:f>
              <c:strCache>
                <c:ptCount val="1"/>
                <c:pt idx="0">
                  <c:v>Hell's Kitchen</c:v>
                </c:pt>
              </c:strCache>
            </c:strRef>
          </c:tx>
          <c:spPr>
            <a:solidFill>
              <a:schemeClr val="accent2"/>
            </a:solidFill>
            <a:ln>
              <a:noFill/>
            </a:ln>
            <a:effectLst/>
            <a:sp3d/>
          </c:spPr>
          <c:invertIfNegative val="0"/>
          <c:cat>
            <c:strRef>
              <c:f>'Revenue Analysis'!$A$5:$A$11</c:f>
              <c:strCache>
                <c:ptCount val="6"/>
                <c:pt idx="0">
                  <c:v>Jan</c:v>
                </c:pt>
                <c:pt idx="1">
                  <c:v>Feb</c:v>
                </c:pt>
                <c:pt idx="2">
                  <c:v>Mar</c:v>
                </c:pt>
                <c:pt idx="3">
                  <c:v>Apr</c:v>
                </c:pt>
                <c:pt idx="4">
                  <c:v>May</c:v>
                </c:pt>
                <c:pt idx="5">
                  <c:v>Jun</c:v>
                </c:pt>
              </c:strCache>
            </c:strRef>
          </c:cat>
          <c:val>
            <c:numRef>
              <c:f>'Revenue Analysis'!$C$5:$C$11</c:f>
              <c:numCache>
                <c:formatCode>"R"#\ ##0.00;[Red]"R"#\ ##0.00</c:formatCode>
                <c:ptCount val="6"/>
                <c:pt idx="0">
                  <c:v>27820.64999999998</c:v>
                </c:pt>
                <c:pt idx="1">
                  <c:v>25719.799999999977</c:v>
                </c:pt>
                <c:pt idx="2">
                  <c:v>33110.569999999861</c:v>
                </c:pt>
                <c:pt idx="3">
                  <c:v>40304.139999999752</c:v>
                </c:pt>
                <c:pt idx="4">
                  <c:v>52598.929999999375</c:v>
                </c:pt>
                <c:pt idx="5">
                  <c:v>56957.079999999347</c:v>
                </c:pt>
              </c:numCache>
            </c:numRef>
          </c:val>
          <c:extLst>
            <c:ext xmlns:c16="http://schemas.microsoft.com/office/drawing/2014/chart" uri="{C3380CC4-5D6E-409C-BE32-E72D297353CC}">
              <c16:uniqueId val="{00000001-6D26-4EC7-9B81-0C5E7B6ECD84}"/>
            </c:ext>
          </c:extLst>
        </c:ser>
        <c:ser>
          <c:idx val="2"/>
          <c:order val="2"/>
          <c:tx>
            <c:strRef>
              <c:f>'Revenue Analysis'!$D$3:$D$4</c:f>
              <c:strCache>
                <c:ptCount val="1"/>
                <c:pt idx="0">
                  <c:v>Lower Manhattan</c:v>
                </c:pt>
              </c:strCache>
            </c:strRef>
          </c:tx>
          <c:spPr>
            <a:solidFill>
              <a:schemeClr val="accent3"/>
            </a:solidFill>
            <a:ln>
              <a:noFill/>
            </a:ln>
            <a:effectLst/>
            <a:sp3d/>
          </c:spPr>
          <c:invertIfNegative val="0"/>
          <c:cat>
            <c:strRef>
              <c:f>'Revenue Analysis'!$A$5:$A$11</c:f>
              <c:strCache>
                <c:ptCount val="6"/>
                <c:pt idx="0">
                  <c:v>Jan</c:v>
                </c:pt>
                <c:pt idx="1">
                  <c:v>Feb</c:v>
                </c:pt>
                <c:pt idx="2">
                  <c:v>Mar</c:v>
                </c:pt>
                <c:pt idx="3">
                  <c:v>Apr</c:v>
                </c:pt>
                <c:pt idx="4">
                  <c:v>May</c:v>
                </c:pt>
                <c:pt idx="5">
                  <c:v>Jun</c:v>
                </c:pt>
              </c:strCache>
            </c:strRef>
          </c:cat>
          <c:val>
            <c:numRef>
              <c:f>'Revenue Analysis'!$D$5:$D$11</c:f>
              <c:numCache>
                <c:formatCode>"R"#\ ##0.00;[Red]"R"#\ ##0.00</c:formatCode>
                <c:ptCount val="6"/>
                <c:pt idx="0">
                  <c:v>26543.429999999942</c:v>
                </c:pt>
                <c:pt idx="1">
                  <c:v>25320.049999999905</c:v>
                </c:pt>
                <c:pt idx="2">
                  <c:v>32888.679999999811</c:v>
                </c:pt>
                <c:pt idx="3">
                  <c:v>39159.329999999653</c:v>
                </c:pt>
                <c:pt idx="4">
                  <c:v>51700.069999999592</c:v>
                </c:pt>
                <c:pt idx="5">
                  <c:v>54445.689999999646</c:v>
                </c:pt>
              </c:numCache>
            </c:numRef>
          </c:val>
          <c:extLst>
            <c:ext xmlns:c16="http://schemas.microsoft.com/office/drawing/2014/chart" uri="{C3380CC4-5D6E-409C-BE32-E72D297353CC}">
              <c16:uniqueId val="{00000002-6D26-4EC7-9B81-0C5E7B6ECD84}"/>
            </c:ext>
          </c:extLst>
        </c:ser>
        <c:dLbls>
          <c:showLegendKey val="0"/>
          <c:showVal val="0"/>
          <c:showCatName val="0"/>
          <c:showSerName val="0"/>
          <c:showPercent val="0"/>
          <c:showBubbleSize val="0"/>
        </c:dLbls>
        <c:gapWidth val="150"/>
        <c:shape val="box"/>
        <c:axId val="888230847"/>
        <c:axId val="888246687"/>
        <c:axId val="0"/>
      </c:bar3DChart>
      <c:catAx>
        <c:axId val="88823084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mn-lt"/>
                <a:ea typeface="+mn-ea"/>
                <a:cs typeface="+mn-cs"/>
              </a:defRPr>
            </a:pPr>
            <a:endParaRPr lang="en-US"/>
          </a:p>
        </c:txPr>
        <c:crossAx val="888246687"/>
        <c:crosses val="autoZero"/>
        <c:auto val="1"/>
        <c:lblAlgn val="ctr"/>
        <c:lblOffset val="100"/>
        <c:noMultiLvlLbl val="0"/>
      </c:catAx>
      <c:valAx>
        <c:axId val="88824668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r>
                  <a:rPr lang="en-ZA"/>
                  <a:t>SALES</a:t>
                </a:r>
                <a:r>
                  <a:rPr lang="en-ZA" baseline="0"/>
                  <a:t> (ZAR)</a:t>
                </a:r>
                <a:endParaRPr lang="en-ZA"/>
              </a:p>
            </c:rich>
          </c:tx>
          <c:overlay val="0"/>
          <c:spPr>
            <a:noFill/>
            <a:ln>
              <a:noFill/>
            </a:ln>
            <a:effectLst/>
          </c:spPr>
          <c:txPr>
            <a:bodyPr rot="-5400000" spcFirstLastPara="1" vertOverflow="ellipsis" vert="horz" wrap="square" anchor="ctr" anchorCtr="1"/>
            <a:lstStyle/>
            <a:p>
              <a:pPr>
                <a:defRPr sz="900" b="0" i="0" u="none" strike="noStrike" kern="1200" cap="all" baseline="0">
                  <a:solidFill>
                    <a:schemeClr val="tx1">
                      <a:lumMod val="65000"/>
                      <a:lumOff val="35000"/>
                    </a:schemeClr>
                  </a:solidFill>
                  <a:latin typeface="+mn-lt"/>
                  <a:ea typeface="+mn-ea"/>
                  <a:cs typeface="+mn-cs"/>
                </a:defRPr>
              </a:pPr>
              <a:endParaRPr lang="en-ZA"/>
            </a:p>
          </c:txPr>
        </c:title>
        <c:numFmt formatCode="&quot;R&quot;#\ ##0.00;[Red]&quot;R&quot;#\ ##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88230847"/>
        <c:crosses val="autoZero"/>
        <c:crossBetween val="between"/>
      </c:val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[bcs_analysis_final.xlsx]Revenue Analysis!PivotTable8</c:name>
    <c:fmtId val="8"/>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'Revenue Analysis'!$B$22</c:f>
              <c:strCache>
                <c:ptCount val="1"/>
                <c:pt idx="0">
                  <c:v>Total</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extLst>
              <c:ext xmlns:c16="http://schemas.microsoft.com/office/drawing/2014/chart" uri="{C3380CC4-5D6E-409C-BE32-E72D297353CC}">
                <c16:uniqueId val="{00000001-B6AB-41C3-A9EB-F78692986E05}"/>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sp3d/>
            </c:spPr>
            <c:extLst>
              <c:ext xmlns:c16="http://schemas.microsoft.com/office/drawing/2014/chart" uri="{C3380CC4-5D6E-409C-BE32-E72D297353CC}">
                <c16:uniqueId val="{00000003-B6AB-41C3-A9EB-F78692986E05}"/>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sp3d/>
            </c:spPr>
            <c:extLst>
              <c:ext xmlns:c16="http://schemas.microsoft.com/office/drawing/2014/chart" uri="{C3380CC4-5D6E-409C-BE32-E72D297353CC}">
                <c16:uniqueId val="{00000005-B6AB-41C3-A9EB-F78692986E05}"/>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sp3d/>
            </c:spPr>
            <c:extLst>
              <c:ext xmlns:c16="http://schemas.microsoft.com/office/drawing/2014/chart" uri="{C3380CC4-5D6E-409C-BE32-E72D297353CC}">
                <c16:uniqueId val="{00000007-B6AB-41C3-A9EB-F78692986E0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'Revenue Analysis'!$A$23:$A$27</c:f>
              <c:strCache>
                <c:ptCount val="4"/>
                <c:pt idx="0">
                  <c:v>Breakfast</c:v>
                </c:pt>
                <c:pt idx="1">
                  <c:v>Brunch</c:v>
                </c:pt>
                <c:pt idx="2">
                  <c:v>Late lunch</c:v>
                </c:pt>
                <c:pt idx="3">
                  <c:v>Lunch</c:v>
                </c:pt>
              </c:strCache>
            </c:strRef>
          </c:cat>
          <c:val>
            <c:numRef>
              <c:f>'Revenue Analysis'!$B$23:$B$27</c:f>
              <c:numCache>
                <c:formatCode>0.00%</c:formatCode>
                <c:ptCount val="4"/>
                <c:pt idx="0">
                  <c:v>0.24058907203311669</c:v>
                </c:pt>
                <c:pt idx="1">
                  <c:v>0.31505176790455536</c:v>
                </c:pt>
                <c:pt idx="2">
                  <c:v>0.26997045115102875</c:v>
                </c:pt>
                <c:pt idx="3">
                  <c:v>0.17438870891129932</c:v>
                </c:pt>
              </c:numCache>
            </c:numRef>
          </c:val>
          <c:extLst>
            <c:ext xmlns:c16="http://schemas.microsoft.com/office/drawing/2014/chart" uri="{C3380CC4-5D6E-409C-BE32-E72D297353CC}">
              <c16:uniqueId val="{00000008-B6AB-41C3-A9EB-F78692986E05}"/>
            </c:ext>
          </c:extLst>
        </c:ser>
        <c:dLbls>
          <c:dLblPos val="ctr"/>
          <c:showLegendKey val="0"/>
          <c:showVal val="0"/>
          <c:showCatName val="0"/>
          <c:showSerName val="0"/>
          <c:showPercent val="1"/>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[bcs_analysis_final.xlsx]Store Analysis!PivotTable1</c:name>
    <c:fmtId val="16"/>
  </c:pivotSource>
  <c:chart>
    <c:autoTitleDeleted val="1"/>
    <c:pivotFmts>
      <c:pivotFmt>
        <c:idx val="0"/>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symbol val="circle"/>
          <c:size val="6"/>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'Store Analysis'!$B$4:$B$5</c:f>
              <c:strCache>
                <c:ptCount val="1"/>
                <c:pt idx="0">
                  <c:v>Astoria</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tint val="100000"/>
                      <a:shade val="85000"/>
                      <a:satMod val="100000"/>
                      <a:lumMod val="100000"/>
                    </a:schemeClr>
                  </a:gs>
                  <a:gs pos="100000">
                    <a:schemeClr val="accent1">
                      <a:tint val="90000"/>
                      <a:shade val="100000"/>
                      <a:satMod val="150000"/>
                      <a:lumMod val="100000"/>
                    </a:schemeClr>
                  </a:gs>
                </a:gsLst>
                <a:path path="circle">
                  <a:fillToRect l="100000" t="100000" r="100000" b="100000"/>
                </a:path>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cat>
            <c:strRef>
              <c:f>'Store Analysis'!$A$6:$A$10</c:f>
              <c:strCache>
                <c:ptCount val="4"/>
                <c:pt idx="0">
                  <c:v>Breakfast</c:v>
                </c:pt>
                <c:pt idx="1">
                  <c:v>Brunch</c:v>
                </c:pt>
                <c:pt idx="2">
                  <c:v>Late lunch</c:v>
                </c:pt>
                <c:pt idx="3">
                  <c:v>Lunch</c:v>
                </c:pt>
              </c:strCache>
            </c:strRef>
          </c:cat>
          <c:val>
            <c:numRef>
              <c:f>'Store Analysis'!$B$6:$B$10</c:f>
              <c:numCache>
                <c:formatCode>"R"#\ ##0.00</c:formatCode>
                <c:ptCount val="4"/>
                <c:pt idx="0">
                  <c:v>41834.699999999873</c:v>
                </c:pt>
                <c:pt idx="1">
                  <c:v>63107.819999999178</c:v>
                </c:pt>
                <c:pt idx="2">
                  <c:v>80497.049999999028</c:v>
                </c:pt>
                <c:pt idx="3">
                  <c:v>46804.339999999735</c:v>
                </c:pt>
              </c:numCache>
            </c:numRef>
          </c:val>
          <c:smooth val="0"/>
          <c:extLst>
            <c:ext xmlns:c16="http://schemas.microsoft.com/office/drawing/2014/chart" uri="{C3380CC4-5D6E-409C-BE32-E72D297353CC}">
              <c16:uniqueId val="{00000000-7BDF-4971-8F1F-448D94261E51}"/>
            </c:ext>
          </c:extLst>
        </c:ser>
        <c:ser>
          <c:idx val="1"/>
          <c:order val="1"/>
          <c:tx>
            <c:strRef>
              <c:f>'Store Analysis'!$C$4:$C$5</c:f>
              <c:strCache>
                <c:ptCount val="1"/>
                <c:pt idx="0">
                  <c:v>Hell's Kitchen</c:v>
                </c:pt>
              </c:strCache>
            </c:strRef>
          </c:tx>
          <c:spPr>
            <a:ln w="34925" cap="rnd">
              <a:solidFill>
                <a:schemeClr val="accent3"/>
              </a:solidFill>
              <a:round/>
            </a:ln>
            <a:effectLst>
              <a:outerShdw blurRad="57150" dist="19050" dir="5400000" algn="ctr" rotWithShape="0">
                <a:srgbClr val="000000">
                  <a:alpha val="63000"/>
                </a:srgbClr>
              </a:outerShdw>
            </a:effectLst>
          </c:spPr>
          <c:marker>
            <c:symbol val="circle"/>
            <c:size val="6"/>
            <c:spPr>
              <a:gradFill rotWithShape="1">
                <a:gsLst>
                  <a:gs pos="0">
                    <a:schemeClr val="accent3">
                      <a:tint val="100000"/>
                      <a:shade val="85000"/>
                      <a:satMod val="100000"/>
                      <a:lumMod val="100000"/>
                    </a:schemeClr>
                  </a:gs>
                  <a:gs pos="100000">
                    <a:schemeClr val="accent3">
                      <a:tint val="90000"/>
                      <a:shade val="100000"/>
                      <a:satMod val="150000"/>
                      <a:lumMod val="100000"/>
                    </a:schemeClr>
                  </a:gs>
                </a:gsLst>
                <a:path path="circle">
                  <a:fillToRect l="100000" t="100000" r="100000" b="100000"/>
                </a:path>
              </a:gradFill>
              <a:ln w="9525">
                <a:solidFill>
                  <a:schemeClr val="accent3"/>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cat>
            <c:strRef>
              <c:f>'Store Analysis'!$A$6:$A$10</c:f>
              <c:strCache>
                <c:ptCount val="4"/>
                <c:pt idx="0">
                  <c:v>Breakfast</c:v>
                </c:pt>
                <c:pt idx="1">
                  <c:v>Brunch</c:v>
                </c:pt>
                <c:pt idx="2">
                  <c:v>Late lunch</c:v>
                </c:pt>
                <c:pt idx="3">
                  <c:v>Lunch</c:v>
                </c:pt>
              </c:strCache>
            </c:strRef>
          </c:cat>
          <c:val>
            <c:numRef>
              <c:f>'Store Analysis'!$C$6:$C$10</c:f>
              <c:numCache>
                <c:formatCode>"R"#\ ##0.00</c:formatCode>
                <c:ptCount val="4"/>
                <c:pt idx="0">
                  <c:v>55036.659999999523</c:v>
                </c:pt>
                <c:pt idx="1">
                  <c:v>84406.640000000072</c:v>
                </c:pt>
                <c:pt idx="2">
                  <c:v>61357.169999999271</c:v>
                </c:pt>
                <c:pt idx="3">
                  <c:v>35710.699999999903</c:v>
                </c:pt>
              </c:numCache>
            </c:numRef>
          </c:val>
          <c:smooth val="0"/>
          <c:extLst>
            <c:ext xmlns:c16="http://schemas.microsoft.com/office/drawing/2014/chart" uri="{C3380CC4-5D6E-409C-BE32-E72D297353CC}">
              <c16:uniqueId val="{00000001-7BDF-4971-8F1F-448D94261E51}"/>
            </c:ext>
          </c:extLst>
        </c:ser>
        <c:ser>
          <c:idx val="2"/>
          <c:order val="2"/>
          <c:tx>
            <c:strRef>
              <c:f>'Store Analysis'!$D$4:$D$5</c:f>
              <c:strCache>
                <c:ptCount val="1"/>
                <c:pt idx="0">
                  <c:v>Lower Manhattan</c:v>
                </c:pt>
              </c:strCache>
            </c:strRef>
          </c:tx>
          <c:spPr>
            <a:ln w="34925" cap="rnd">
              <a:solidFill>
                <a:schemeClr val="accent5"/>
              </a:solidFill>
              <a:round/>
            </a:ln>
            <a:effectLst>
              <a:outerShdw blurRad="57150" dist="19050" dir="5400000" algn="ctr" rotWithShape="0">
                <a:srgbClr val="000000">
                  <a:alpha val="63000"/>
                </a:srgbClr>
              </a:outerShdw>
            </a:effectLst>
          </c:spPr>
          <c:marker>
            <c:symbol val="circle"/>
            <c:size val="6"/>
            <c:spPr>
              <a:gradFill rotWithShape="1">
                <a:gsLst>
                  <a:gs pos="0">
                    <a:schemeClr val="accent5">
                      <a:tint val="100000"/>
                      <a:shade val="85000"/>
                      <a:satMod val="100000"/>
                      <a:lumMod val="100000"/>
                    </a:schemeClr>
                  </a:gs>
                  <a:gs pos="100000">
                    <a:schemeClr val="accent5">
                      <a:tint val="90000"/>
                      <a:shade val="100000"/>
                      <a:satMod val="150000"/>
                      <a:lumMod val="100000"/>
                    </a:schemeClr>
                  </a:gs>
                </a:gsLst>
                <a:path path="circle">
                  <a:fillToRect l="100000" t="100000" r="100000" b="100000"/>
                </a:path>
              </a:gradFill>
              <a:ln w="9525">
                <a:solidFill>
                  <a:schemeClr val="accent5"/>
                </a:solidFill>
                <a:round/>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marker>
          <c:cat>
            <c:strRef>
              <c:f>'Store Analysis'!$A$6:$A$10</c:f>
              <c:strCache>
                <c:ptCount val="4"/>
                <c:pt idx="0">
                  <c:v>Breakfast</c:v>
                </c:pt>
                <c:pt idx="1">
                  <c:v>Brunch</c:v>
                </c:pt>
                <c:pt idx="2">
                  <c:v>Late lunch</c:v>
                </c:pt>
                <c:pt idx="3">
                  <c:v>Lunch</c:v>
                </c:pt>
              </c:strCache>
            </c:strRef>
          </c:cat>
          <c:val>
            <c:numRef>
              <c:f>'Store Analysis'!$D$6:$D$10</c:f>
              <c:numCache>
                <c:formatCode>"R"#\ ##0.00</c:formatCode>
                <c:ptCount val="4"/>
                <c:pt idx="0">
                  <c:v>71255.249999999694</c:v>
                </c:pt>
                <c:pt idx="1">
                  <c:v>72647.60000000002</c:v>
                </c:pt>
                <c:pt idx="2">
                  <c:v>46804.459999999621</c:v>
                </c:pt>
                <c:pt idx="3">
                  <c:v>39349.939999999922</c:v>
                </c:pt>
              </c:numCache>
            </c:numRef>
          </c:val>
          <c:smooth val="0"/>
          <c:extLst>
            <c:ext xmlns:c16="http://schemas.microsoft.com/office/drawing/2014/chart" uri="{C3380CC4-5D6E-409C-BE32-E72D297353CC}">
              <c16:uniqueId val="{00000002-7BDF-4971-8F1F-448D94261E51}"/>
            </c:ext>
          </c:extLst>
        </c:ser>
        <c:dLbls>
          <c:showLegendKey val="0"/>
          <c:showVal val="0"/>
          <c:showCatName val="0"/>
          <c:showSerName val="0"/>
          <c:showPercent val="0"/>
          <c:showBubbleSize val="0"/>
        </c:dLbls>
        <c:marker val="1"/>
        <c:smooth val="0"/>
        <c:axId val="199915376"/>
        <c:axId val="199917776"/>
      </c:lineChart>
      <c:catAx>
        <c:axId val="199915376"/>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ZA"/>
                  <a:t>Day Breakdown</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917776"/>
        <c:crosses val="autoZero"/>
        <c:auto val="1"/>
        <c:lblAlgn val="ctr"/>
        <c:lblOffset val="100"/>
        <c:noMultiLvlLbl val="0"/>
      </c:catAx>
      <c:valAx>
        <c:axId val="1999177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ZA"/>
                  <a:t>Revenue (ZAR)</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quot;R&quot;#\ ##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991537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'[bcs_analysis_final.xlsx]Product Analysis'!$A$41:$B$70</cx:f>
        <cx:lvl ptCount="30">
          <cx:pt idx="0">Sustainably Grown Organic Lg</cx:pt>
          <cx:pt idx="1">Dark chocolate Lg</cx:pt>
          <cx:pt idx="2">Latte Rg</cx:pt>
          <cx:pt idx="3">Cappuccino Lg</cx:pt>
          <cx:pt idx="4">Morning Sunrise Chai Lg</cx:pt>
          <cx:pt idx="5">Latte</cx:pt>
          <cx:pt idx="6">Jamaican Coffee River Lg</cx:pt>
          <cx:pt idx="7">Sustainably Grown Organic Rg</cx:pt>
          <cx:pt idx="8">Cappuccino</cx:pt>
          <cx:pt idx="9">Brazilian Lg</cx:pt>
          <cx:pt idx="10">Ethiopia Lg</cx:pt>
          <cx:pt idx="11">Dark chocolate Rg</cx:pt>
          <cx:pt idx="12">Spicy Eye Opener Chai Lg</cx:pt>
          <cx:pt idx="13">Ethiopia Rg</cx:pt>
          <cx:pt idx="14">Brazilian Rg</cx:pt>
          <cx:pt idx="15">Peppermint Lg</cx:pt>
          <cx:pt idx="16">English Breakfast Lg</cx:pt>
          <cx:pt idx="17">Earl Grey Lg</cx:pt>
          <cx:pt idx="18">Serenity Green Tea Lg</cx:pt>
          <cx:pt idx="19">Columbian Medium Roast Lg</cx:pt>
          <cx:pt idx="20">Traditional Blend Chai Lg</cx:pt>
          <cx:pt idx="21">Espresso shot</cx:pt>
          <cx:pt idx="22">Jamaican Coffee River Rg</cx:pt>
          <cx:pt idx="23">Lemon Grass Lg</cx:pt>
          <cx:pt idx="24">Our Old Time Diner Blend Lg</cx:pt>
          <cx:pt idx="25">Earl Grey Rg</cx:pt>
          <cx:pt idx="26">Civet Cat</cx:pt>
          <cx:pt idx="27">Chocolate Croissant</cx:pt>
          <cx:pt idx="28">Morning Sunrise Chai Rg</cx:pt>
          <cx:pt idx="29">Peppermint Rg</cx:pt>
        </cx:lvl>
        <cx:lvl ptCount="30">
          <cx:pt idx="0">Drinking Chocolate</cx:pt>
          <cx:pt idx="1">Drinking Chocolate</cx:pt>
          <cx:pt idx="2">Coffee</cx:pt>
          <cx:pt idx="3">Coffee</cx:pt>
          <cx:pt idx="4">Tea</cx:pt>
          <cx:pt idx="5">Coffee</cx:pt>
          <cx:pt idx="6">Coffee</cx:pt>
          <cx:pt idx="7">Drinking Chocolate</cx:pt>
          <cx:pt idx="8">Coffee</cx:pt>
          <cx:pt idx="9">Coffee</cx:pt>
          <cx:pt idx="10">Coffee</cx:pt>
          <cx:pt idx="11">Drinking Chocolate</cx:pt>
          <cx:pt idx="12">Loose Tea</cx:pt>
          <cx:pt idx="13">Coffee</cx:pt>
          <cx:pt idx="14">Coffee</cx:pt>
          <cx:pt idx="15">Loose Tea</cx:pt>
          <cx:pt idx="16">Loose Tea</cx:pt>
          <cx:pt idx="17">Loose Tea</cx:pt>
          <cx:pt idx="18">Tea</cx:pt>
          <cx:pt idx="19">Coffee</cx:pt>
          <cx:pt idx="20">Loose Tea</cx:pt>
          <cx:pt idx="21">Coffee</cx:pt>
          <cx:pt idx="22">Coffee</cx:pt>
          <cx:pt idx="23">Loose Tea</cx:pt>
          <cx:pt idx="24">Coffee</cx:pt>
          <cx:pt idx="25">Loose Tea</cx:pt>
          <cx:pt idx="26">Coffee Beans</cx:pt>
          <cx:pt idx="27">Bakery</cx:pt>
          <cx:pt idx="28">Tea</cx:pt>
          <cx:pt idx="29">Loose Tea</cx:pt>
        </cx:lvl>
      </cx:strDim>
      <cx:numDim type="size">
        <cx:f>'[bcs_analysis_final.xlsx]Product Analysis'!$C$41:$C$70</cx:f>
        <cx:lvl ptCount="30" formatCode="&quot;R&quot;# ##0,00;[Red]&quot;R&quot;# ##0,00">
          <cx:pt idx="0">21151.75</cx:pt>
          <cx:pt idx="1">21006</cx:pt>
          <cx:pt idx="2">19112.25</cx:pt>
          <cx:pt idx="3">17641.75</cx:pt>
          <cx:pt idx="4">17384</cx:pt>
          <cx:pt idx="5">17257.5</cx:pt>
          <cx:pt idx="6">16481.25</cx:pt>
          <cx:pt idx="7">16233.75</cx:pt>
          <cx:pt idx="8">15997.5</cx:pt>
          <cx:pt idx="9">15109.5</cx:pt>
          <cx:pt idx="10">14794.5</cx:pt>
          <cx:pt idx="11">14024.5</cx:pt>
          <cx:pt idx="12">13652.400000000633</cx:pt>
          <cx:pt idx="13">13179</cx:pt>
          <cx:pt idx="14">13155</cx:pt>
          <cx:pt idx="15">13050</cx:pt>
          <cx:pt idx="16">12927</cx:pt>
          <cx:pt idx="17">12735</cx:pt>
          <cx:pt idx="18">12660</cx:pt>
          <cx:pt idx="19">12585</cx:pt>
          <cx:pt idx="20">12522</cx:pt>
          <cx:pt idx="21">12495</cx:pt>
          <cx:pt idx="22">12455.800000000445</cx:pt>
          <cx:pt idx="23">12267</cx:pt>
          <cx:pt idx="24">11991</cx:pt>
          <cx:pt idx="25">11770</cx:pt>
          <cx:pt idx="26">11700</cx:pt>
          <cx:pt idx="27">11625.980000000001</cx:pt>
          <cx:pt idx="28">11607.5</cx:pt>
          <cx:pt idx="29">11410</cx:pt>
        </cx:lvl>
      </cx:numDim>
    </cx:data>
  </cx:chartData>
  <cx:chart>
    <cx:plotArea>
      <cx:plotAreaRegion>
        <cx:series layoutId="treemap" uniqueId="{60EF2A41-0EEA-48CA-9116-3D7987EAC8AF}">
          <cx:tx>
            <cx:txData>
              <cx:f>'[bcs_analysis_final.xlsx]Product Analysis'!$C$40</cx:f>
              <cx:v>Total Revenue</cx:v>
            </cx:txData>
          </cx:tx>
          <cx:dataLabels pos="inEnd">
            <cx:numFmt formatCode="R# ##0" sourceLinked="0"/>
            <cx:spPr>
              <a:ln>
                <a:noFill/>
              </a:ln>
            </cx:spPr>
            <cx:txPr>
              <a:bodyPr spcFirstLastPara="1" vertOverflow="ellipsis" horzOverflow="overflow" wrap="square" lIns="0" tIns="0" rIns="0" bIns="0" anchor="ctr" anchorCtr="1"/>
              <a:lstStyle/>
              <a:p>
                <a:pPr algn="ctr" rtl="0">
                  <a:defRPr>
                    <a:ln>
                      <a:solidFill>
                        <a:schemeClr val="bg1">
                          <a:alpha val="48000"/>
                        </a:schemeClr>
                      </a:solidFill>
                    </a:ln>
                    <a:gradFill>
                      <a:gsLst>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defRPr>
                </a:pPr>
                <a:endParaRPr lang="en-US" sz="900" b="0" i="0" u="none" strike="noStrike" baseline="0">
                  <a:ln>
                    <a:solidFill>
                      <a:schemeClr val="bg1">
                        <a:alpha val="48000"/>
                      </a:schemeClr>
                    </a:solidFill>
                  </a:ln>
                  <a:gradFill>
                    <a:gsLst>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atin typeface="Aptos Narrow" panose="02110004020202020204"/>
                </a:endParaRPr>
              </a:p>
            </cx:txPr>
            <cx:visibility seriesName="0" categoryName="1" value="1"/>
            <cx:separator>
</cx:separator>
          </cx:dataLabels>
          <cx:dataId val="0"/>
          <cx:layoutPr>
            <cx:parentLabelLayout val="overlapping"/>
          </cx:layoutPr>
        </cx:series>
      </cx:plotAreaRegion>
    </cx:plotArea>
  </cx:chart>
  <cx:spPr>
    <a:noFill/>
  </cx:spPr>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6">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66">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415">
  <cs:axisTitle>
    <cs:lnRef idx="0"/>
    <cs:fillRef idx="0"/>
    <cs:effectRef idx="0"/>
    <cs:fontRef idx="minor">
      <a:schemeClr val="lt1">
        <a:lumMod val="95000"/>
      </a:schemeClr>
    </cs:fontRef>
    <cs:spPr>
      <a:solidFill>
        <a:schemeClr val="bg1">
          <a:lumMod val="65000"/>
        </a:schemeClr>
      </a:solidFill>
      <a:ln>
        <a:solidFill>
          <a:schemeClr val="tx1"/>
        </a:solidFill>
      </a:ln>
    </cs:spPr>
    <cs:defRPr sz="900"/>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cs:chartArea>
  <cs:dataLabel>
    <cs:lnRef idx="0"/>
    <cs:fillRef idx="0"/>
    <cs:effectRef idx="0"/>
    <cs:fontRef idx="minor">
      <a:schemeClr val="lt1">
        <a:lumMod val="9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ln>
        <a:solidFill>
          <a:schemeClr val="tx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9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1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9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1600" b="1" spc="10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9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900"/>
  </cs:valueAxis>
  <cs:wall>
    <cs:lnRef idx="0"/>
    <cs:fillRef idx="0"/>
    <cs:effectRef idx="0"/>
    <cs:fontRef idx="minor">
      <a:schemeClr val="lt1"/>
    </cs:fontRef>
  </cs:wall>
</cs:chartStyle>
</file>

<file path=ppt/diagrams/_rels/data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F866C9-4A03-4AD4-8E51-2BAE1EB6D17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EC2E38C-B9EA-4AC4-87C3-18C259F9401A}">
      <dgm:prSet/>
      <dgm:spPr/>
      <dgm:t>
        <a:bodyPr/>
        <a:lstStyle/>
        <a:p>
          <a:pPr>
            <a:lnSpc>
              <a:spcPct val="100000"/>
            </a:lnSpc>
            <a:defRPr cap="all"/>
          </a:pPr>
          <a:r>
            <a:rPr lang="en-US" noProof="0"/>
            <a:t>Revenue Analysis</a:t>
          </a:r>
        </a:p>
      </dgm:t>
    </dgm:pt>
    <dgm:pt modelId="{56633E21-2D4F-4D35-A163-AA05ACDE458F}" type="parTrans" cxnId="{34B04A36-AFEA-4CD1-A11B-8FBE8A73338B}">
      <dgm:prSet/>
      <dgm:spPr/>
      <dgm:t>
        <a:bodyPr/>
        <a:lstStyle/>
        <a:p>
          <a:endParaRPr lang="en-US" sz="2100" noProof="0" dirty="0"/>
        </a:p>
      </dgm:t>
    </dgm:pt>
    <dgm:pt modelId="{257D8D46-D708-441A-9A94-08C16FB98397}" type="sibTrans" cxnId="{34B04A36-AFEA-4CD1-A11B-8FBE8A73338B}">
      <dgm:prSet/>
      <dgm:spPr/>
      <dgm:t>
        <a:bodyPr/>
        <a:lstStyle/>
        <a:p>
          <a:endParaRPr lang="en-US" noProof="0"/>
        </a:p>
      </dgm:t>
    </dgm:pt>
    <dgm:pt modelId="{6C7ABDD8-2116-4572-BFF1-942DE135219B}">
      <dgm:prSet/>
      <dgm:spPr/>
      <dgm:t>
        <a:bodyPr/>
        <a:lstStyle/>
        <a:p>
          <a:pPr>
            <a:lnSpc>
              <a:spcPct val="100000"/>
            </a:lnSpc>
            <a:defRPr cap="all"/>
          </a:pPr>
          <a:r>
            <a:rPr lang="en-US" noProof="0"/>
            <a:t>Store Analysis</a:t>
          </a:r>
        </a:p>
      </dgm:t>
    </dgm:pt>
    <dgm:pt modelId="{616469A4-BE2A-4C29-8A52-AB6BAF651012}" type="parTrans" cxnId="{0675954C-3CB5-402E-8880-DDA68CDDB758}">
      <dgm:prSet/>
      <dgm:spPr/>
      <dgm:t>
        <a:bodyPr/>
        <a:lstStyle/>
        <a:p>
          <a:endParaRPr lang="en-US" sz="2100" noProof="0" dirty="0"/>
        </a:p>
      </dgm:t>
    </dgm:pt>
    <dgm:pt modelId="{59BC6248-0FAC-49D0-8357-FB965100BBEE}" type="sibTrans" cxnId="{0675954C-3CB5-402E-8880-DDA68CDDB758}">
      <dgm:prSet/>
      <dgm:spPr/>
      <dgm:t>
        <a:bodyPr/>
        <a:lstStyle/>
        <a:p>
          <a:endParaRPr lang="en-US" noProof="0"/>
        </a:p>
      </dgm:t>
    </dgm:pt>
    <dgm:pt modelId="{44509D9E-58EE-4039-82A1-2A79116ACC93}">
      <dgm:prSet/>
      <dgm:spPr/>
      <dgm:t>
        <a:bodyPr/>
        <a:lstStyle/>
        <a:p>
          <a:pPr>
            <a:lnSpc>
              <a:spcPct val="100000"/>
            </a:lnSpc>
            <a:defRPr cap="all"/>
          </a:pPr>
          <a:r>
            <a:rPr lang="en-US" noProof="0"/>
            <a:t>Product Analysis</a:t>
          </a:r>
        </a:p>
      </dgm:t>
    </dgm:pt>
    <dgm:pt modelId="{5C426BE0-998E-4D28-8838-1C847BD83830}" type="parTrans" cxnId="{E0D91B55-A7CF-4FF4-B08D-DBE20AF8C2FE}">
      <dgm:prSet/>
      <dgm:spPr/>
      <dgm:t>
        <a:bodyPr/>
        <a:lstStyle/>
        <a:p>
          <a:endParaRPr lang="en-US" sz="2100" noProof="0" dirty="0"/>
        </a:p>
      </dgm:t>
    </dgm:pt>
    <dgm:pt modelId="{35B7AB1F-21FF-4FAC-BC26-4D944FC0050D}" type="sibTrans" cxnId="{E0D91B55-A7CF-4FF4-B08D-DBE20AF8C2FE}">
      <dgm:prSet/>
      <dgm:spPr/>
      <dgm:t>
        <a:bodyPr/>
        <a:lstStyle/>
        <a:p>
          <a:endParaRPr lang="en-US" noProof="0"/>
        </a:p>
      </dgm:t>
    </dgm:pt>
    <dgm:pt modelId="{26F43258-023E-45AE-9870-4CFF3A69C95A}" type="pres">
      <dgm:prSet presAssocID="{1AF866C9-4A03-4AD4-8E51-2BAE1EB6D173}" presName="root" presStyleCnt="0">
        <dgm:presLayoutVars>
          <dgm:dir/>
          <dgm:resizeHandles val="exact"/>
        </dgm:presLayoutVars>
      </dgm:prSet>
      <dgm:spPr/>
    </dgm:pt>
    <dgm:pt modelId="{202C4348-3615-423C-A161-AE16AF4FCA30}" type="pres">
      <dgm:prSet presAssocID="{BEC2E38C-B9EA-4AC4-87C3-18C259F9401A}" presName="compNode" presStyleCnt="0"/>
      <dgm:spPr/>
    </dgm:pt>
    <dgm:pt modelId="{E6588297-60E7-456B-9016-D10A90FC9EA0}" type="pres">
      <dgm:prSet presAssocID="{BEC2E38C-B9EA-4AC4-87C3-18C259F9401A}" presName="iconBgRect" presStyleLbl="bgShp" presStyleIdx="0" presStyleCnt="3"/>
      <dgm:spPr/>
    </dgm:pt>
    <dgm:pt modelId="{6319B4FD-8ECD-48B8-AE22-D7B586F34DAD}" type="pres">
      <dgm:prSet presAssocID="{BEC2E38C-B9EA-4AC4-87C3-18C259F9401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pward trend"/>
        </a:ext>
      </dgm:extLst>
    </dgm:pt>
    <dgm:pt modelId="{D13F8D39-6ABD-4CF7-9F9D-37B1F4B3F30A}" type="pres">
      <dgm:prSet presAssocID="{BEC2E38C-B9EA-4AC4-87C3-18C259F9401A}" presName="spaceRect" presStyleCnt="0"/>
      <dgm:spPr/>
    </dgm:pt>
    <dgm:pt modelId="{26225B5F-1EC4-4DA3-B71B-391360CEDF97}" type="pres">
      <dgm:prSet presAssocID="{BEC2E38C-B9EA-4AC4-87C3-18C259F9401A}" presName="textRect" presStyleLbl="revTx" presStyleIdx="0" presStyleCnt="3">
        <dgm:presLayoutVars>
          <dgm:chMax val="1"/>
          <dgm:chPref val="1"/>
        </dgm:presLayoutVars>
      </dgm:prSet>
      <dgm:spPr/>
    </dgm:pt>
    <dgm:pt modelId="{3BC42FF9-C322-43DA-8D58-ABD1FE5202E3}" type="pres">
      <dgm:prSet presAssocID="{257D8D46-D708-441A-9A94-08C16FB98397}" presName="sibTrans" presStyleCnt="0"/>
      <dgm:spPr/>
    </dgm:pt>
    <dgm:pt modelId="{0CA5E286-DF36-404C-AF20-F48D9157BA21}" type="pres">
      <dgm:prSet presAssocID="{6C7ABDD8-2116-4572-BFF1-942DE135219B}" presName="compNode" presStyleCnt="0"/>
      <dgm:spPr/>
    </dgm:pt>
    <dgm:pt modelId="{FA056AD6-E85C-4A25-8109-0F9825ACA61A}" type="pres">
      <dgm:prSet presAssocID="{6C7ABDD8-2116-4572-BFF1-942DE135219B}" presName="iconBgRect" presStyleLbl="bgShp" presStyleIdx="1" presStyleCnt="3"/>
      <dgm:spPr/>
    </dgm:pt>
    <dgm:pt modelId="{B99F84CA-A1DA-43EE-BFA0-0B10DE5F3979}" type="pres">
      <dgm:prSet presAssocID="{6C7ABDD8-2116-4572-BFF1-942DE135219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re"/>
        </a:ext>
      </dgm:extLst>
    </dgm:pt>
    <dgm:pt modelId="{401E590B-D1D0-473A-B333-786EEC084FC6}" type="pres">
      <dgm:prSet presAssocID="{6C7ABDD8-2116-4572-BFF1-942DE135219B}" presName="spaceRect" presStyleCnt="0"/>
      <dgm:spPr/>
    </dgm:pt>
    <dgm:pt modelId="{421509E8-E680-47E5-A637-CF87EFC47FB9}" type="pres">
      <dgm:prSet presAssocID="{6C7ABDD8-2116-4572-BFF1-942DE135219B}" presName="textRect" presStyleLbl="revTx" presStyleIdx="1" presStyleCnt="3">
        <dgm:presLayoutVars>
          <dgm:chMax val="1"/>
          <dgm:chPref val="1"/>
        </dgm:presLayoutVars>
      </dgm:prSet>
      <dgm:spPr/>
    </dgm:pt>
    <dgm:pt modelId="{728234AA-C99B-4EBE-A1F6-0785B01FFE8A}" type="pres">
      <dgm:prSet presAssocID="{59BC6248-0FAC-49D0-8357-FB965100BBEE}" presName="sibTrans" presStyleCnt="0"/>
      <dgm:spPr/>
    </dgm:pt>
    <dgm:pt modelId="{E1E711CF-CF9C-47AB-B270-212C910A35CD}" type="pres">
      <dgm:prSet presAssocID="{44509D9E-58EE-4039-82A1-2A79116ACC93}" presName="compNode" presStyleCnt="0"/>
      <dgm:spPr/>
    </dgm:pt>
    <dgm:pt modelId="{DCD7C749-8896-4B3D-BF14-91AE042AE334}" type="pres">
      <dgm:prSet presAssocID="{44509D9E-58EE-4039-82A1-2A79116ACC93}" presName="iconBgRect" presStyleLbl="bgShp" presStyleIdx="2" presStyleCnt="3"/>
      <dgm:spPr/>
    </dgm:pt>
    <dgm:pt modelId="{6F003D83-7CF6-489A-874C-3BBB12C85718}" type="pres">
      <dgm:prSet presAssocID="{44509D9E-58EE-4039-82A1-2A79116ACC93}"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Upward trend"/>
        </a:ext>
      </dgm:extLst>
    </dgm:pt>
    <dgm:pt modelId="{A8D94E64-85C1-4C31-8F08-8D56E6BB0F28}" type="pres">
      <dgm:prSet presAssocID="{44509D9E-58EE-4039-82A1-2A79116ACC93}" presName="spaceRect" presStyleCnt="0"/>
      <dgm:spPr/>
    </dgm:pt>
    <dgm:pt modelId="{A940E4D6-E668-454D-96B0-1D38A66C8011}" type="pres">
      <dgm:prSet presAssocID="{44509D9E-58EE-4039-82A1-2A79116ACC93}" presName="textRect" presStyleLbl="revTx" presStyleIdx="2" presStyleCnt="3">
        <dgm:presLayoutVars>
          <dgm:chMax val="1"/>
          <dgm:chPref val="1"/>
        </dgm:presLayoutVars>
      </dgm:prSet>
      <dgm:spPr/>
    </dgm:pt>
  </dgm:ptLst>
  <dgm:cxnLst>
    <dgm:cxn modelId="{4BC6691A-0893-4632-994A-69889CF4D1C8}" type="presOf" srcId="{BEC2E38C-B9EA-4AC4-87C3-18C259F9401A}" destId="{26225B5F-1EC4-4DA3-B71B-391360CEDF97}" srcOrd="0" destOrd="0" presId="urn:microsoft.com/office/officeart/2018/5/layout/IconCircleLabelList"/>
    <dgm:cxn modelId="{34B04A36-AFEA-4CD1-A11B-8FBE8A73338B}" srcId="{1AF866C9-4A03-4AD4-8E51-2BAE1EB6D173}" destId="{BEC2E38C-B9EA-4AC4-87C3-18C259F9401A}" srcOrd="0" destOrd="0" parTransId="{56633E21-2D4F-4D35-A163-AA05ACDE458F}" sibTransId="{257D8D46-D708-441A-9A94-08C16FB98397}"/>
    <dgm:cxn modelId="{AC5C4F61-0C68-4928-BDC0-A81438192F26}" type="presOf" srcId="{6C7ABDD8-2116-4572-BFF1-942DE135219B}" destId="{421509E8-E680-47E5-A637-CF87EFC47FB9}" srcOrd="0" destOrd="0" presId="urn:microsoft.com/office/officeart/2018/5/layout/IconCircleLabelList"/>
    <dgm:cxn modelId="{0675954C-3CB5-402E-8880-DDA68CDDB758}" srcId="{1AF866C9-4A03-4AD4-8E51-2BAE1EB6D173}" destId="{6C7ABDD8-2116-4572-BFF1-942DE135219B}" srcOrd="1" destOrd="0" parTransId="{616469A4-BE2A-4C29-8A52-AB6BAF651012}" sibTransId="{59BC6248-0FAC-49D0-8357-FB965100BBEE}"/>
    <dgm:cxn modelId="{E0D91B55-A7CF-4FF4-B08D-DBE20AF8C2FE}" srcId="{1AF866C9-4A03-4AD4-8E51-2BAE1EB6D173}" destId="{44509D9E-58EE-4039-82A1-2A79116ACC93}" srcOrd="2" destOrd="0" parTransId="{5C426BE0-998E-4D28-8838-1C847BD83830}" sibTransId="{35B7AB1F-21FF-4FAC-BC26-4D944FC0050D}"/>
    <dgm:cxn modelId="{66130D7F-18A1-45AA-BFC4-4D9C8E7BBF29}" type="presOf" srcId="{1AF866C9-4A03-4AD4-8E51-2BAE1EB6D173}" destId="{26F43258-023E-45AE-9870-4CFF3A69C95A}" srcOrd="0" destOrd="0" presId="urn:microsoft.com/office/officeart/2018/5/layout/IconCircleLabelList"/>
    <dgm:cxn modelId="{FDB19ED0-3085-476E-9379-E191507DF19B}" type="presOf" srcId="{44509D9E-58EE-4039-82A1-2A79116ACC93}" destId="{A940E4D6-E668-454D-96B0-1D38A66C8011}" srcOrd="0" destOrd="0" presId="urn:microsoft.com/office/officeart/2018/5/layout/IconCircleLabelList"/>
    <dgm:cxn modelId="{718F6700-2A4A-4377-9129-817E1AE11CE2}" type="presParOf" srcId="{26F43258-023E-45AE-9870-4CFF3A69C95A}" destId="{202C4348-3615-423C-A161-AE16AF4FCA30}" srcOrd="0" destOrd="0" presId="urn:microsoft.com/office/officeart/2018/5/layout/IconCircleLabelList"/>
    <dgm:cxn modelId="{9CC49FB6-A637-4ECD-BFF6-398CCBEAA42F}" type="presParOf" srcId="{202C4348-3615-423C-A161-AE16AF4FCA30}" destId="{E6588297-60E7-456B-9016-D10A90FC9EA0}" srcOrd="0" destOrd="0" presId="urn:microsoft.com/office/officeart/2018/5/layout/IconCircleLabelList"/>
    <dgm:cxn modelId="{941B01F4-551C-4A7D-BF50-5A1360389E5D}" type="presParOf" srcId="{202C4348-3615-423C-A161-AE16AF4FCA30}" destId="{6319B4FD-8ECD-48B8-AE22-D7B586F34DAD}" srcOrd="1" destOrd="0" presId="urn:microsoft.com/office/officeart/2018/5/layout/IconCircleLabelList"/>
    <dgm:cxn modelId="{59081808-0504-45E4-95DF-2649031E7F0D}" type="presParOf" srcId="{202C4348-3615-423C-A161-AE16AF4FCA30}" destId="{D13F8D39-6ABD-4CF7-9F9D-37B1F4B3F30A}" srcOrd="2" destOrd="0" presId="urn:microsoft.com/office/officeart/2018/5/layout/IconCircleLabelList"/>
    <dgm:cxn modelId="{A8ABDF09-DB05-48AF-89BC-281C1C437D0A}" type="presParOf" srcId="{202C4348-3615-423C-A161-AE16AF4FCA30}" destId="{26225B5F-1EC4-4DA3-B71B-391360CEDF97}" srcOrd="3" destOrd="0" presId="urn:microsoft.com/office/officeart/2018/5/layout/IconCircleLabelList"/>
    <dgm:cxn modelId="{3B531FC4-C57F-4297-B56F-F15BA89B181E}" type="presParOf" srcId="{26F43258-023E-45AE-9870-4CFF3A69C95A}" destId="{3BC42FF9-C322-43DA-8D58-ABD1FE5202E3}" srcOrd="1" destOrd="0" presId="urn:microsoft.com/office/officeart/2018/5/layout/IconCircleLabelList"/>
    <dgm:cxn modelId="{FB5CC0C8-CD3C-4929-9B0B-417B122F0B82}" type="presParOf" srcId="{26F43258-023E-45AE-9870-4CFF3A69C95A}" destId="{0CA5E286-DF36-404C-AF20-F48D9157BA21}" srcOrd="2" destOrd="0" presId="urn:microsoft.com/office/officeart/2018/5/layout/IconCircleLabelList"/>
    <dgm:cxn modelId="{FDEB52BD-7A02-4835-9207-CD7B76BD5BC0}" type="presParOf" srcId="{0CA5E286-DF36-404C-AF20-F48D9157BA21}" destId="{FA056AD6-E85C-4A25-8109-0F9825ACA61A}" srcOrd="0" destOrd="0" presId="urn:microsoft.com/office/officeart/2018/5/layout/IconCircleLabelList"/>
    <dgm:cxn modelId="{C014C8AD-1A41-4028-887A-67825DB3C8A6}" type="presParOf" srcId="{0CA5E286-DF36-404C-AF20-F48D9157BA21}" destId="{B99F84CA-A1DA-43EE-BFA0-0B10DE5F3979}" srcOrd="1" destOrd="0" presId="urn:microsoft.com/office/officeart/2018/5/layout/IconCircleLabelList"/>
    <dgm:cxn modelId="{9ED29F1B-E24D-42AE-9DF9-868EAC259AE9}" type="presParOf" srcId="{0CA5E286-DF36-404C-AF20-F48D9157BA21}" destId="{401E590B-D1D0-473A-B333-786EEC084FC6}" srcOrd="2" destOrd="0" presId="urn:microsoft.com/office/officeart/2018/5/layout/IconCircleLabelList"/>
    <dgm:cxn modelId="{9775FC75-7EB5-44EF-A46C-39C923975D60}" type="presParOf" srcId="{0CA5E286-DF36-404C-AF20-F48D9157BA21}" destId="{421509E8-E680-47E5-A637-CF87EFC47FB9}" srcOrd="3" destOrd="0" presId="urn:microsoft.com/office/officeart/2018/5/layout/IconCircleLabelList"/>
    <dgm:cxn modelId="{0A9EDD0B-68E8-46AB-8E56-AB02D166ABAA}" type="presParOf" srcId="{26F43258-023E-45AE-9870-4CFF3A69C95A}" destId="{728234AA-C99B-4EBE-A1F6-0785B01FFE8A}" srcOrd="3" destOrd="0" presId="urn:microsoft.com/office/officeart/2018/5/layout/IconCircleLabelList"/>
    <dgm:cxn modelId="{50C15429-8519-40B7-9C59-7BA371ED452C}" type="presParOf" srcId="{26F43258-023E-45AE-9870-4CFF3A69C95A}" destId="{E1E711CF-CF9C-47AB-B270-212C910A35CD}" srcOrd="4" destOrd="0" presId="urn:microsoft.com/office/officeart/2018/5/layout/IconCircleLabelList"/>
    <dgm:cxn modelId="{7AED3EDF-67CC-4F4B-9C97-AA56120EAFD3}" type="presParOf" srcId="{E1E711CF-CF9C-47AB-B270-212C910A35CD}" destId="{DCD7C749-8896-4B3D-BF14-91AE042AE334}" srcOrd="0" destOrd="0" presId="urn:microsoft.com/office/officeart/2018/5/layout/IconCircleLabelList"/>
    <dgm:cxn modelId="{0C2A5BEF-CA1F-4012-A2FC-D6A3D723C115}" type="presParOf" srcId="{E1E711CF-CF9C-47AB-B270-212C910A35CD}" destId="{6F003D83-7CF6-489A-874C-3BBB12C85718}" srcOrd="1" destOrd="0" presId="urn:microsoft.com/office/officeart/2018/5/layout/IconCircleLabelList"/>
    <dgm:cxn modelId="{9905A8C8-6CC3-471B-8766-AEB2947B8DF1}" type="presParOf" srcId="{E1E711CF-CF9C-47AB-B270-212C910A35CD}" destId="{A8D94E64-85C1-4C31-8F08-8D56E6BB0F28}" srcOrd="2" destOrd="0" presId="urn:microsoft.com/office/officeart/2018/5/layout/IconCircleLabelList"/>
    <dgm:cxn modelId="{D13322F9-07E0-4A9C-B821-93E606D5F152}" type="presParOf" srcId="{E1E711CF-CF9C-47AB-B270-212C910A35CD}" destId="{A940E4D6-E668-454D-96B0-1D38A66C8011}"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4D9FADA-50AD-47A9-A904-E2ADF63F9931}" type="doc">
      <dgm:prSet loTypeId="urn:microsoft.com/office/officeart/2005/8/layout/matrix1" loCatId="matrix" qsTypeId="urn:microsoft.com/office/officeart/2005/8/quickstyle/simple4" qsCatId="simple" csTypeId="urn:microsoft.com/office/officeart/2005/8/colors/accent1_2" csCatId="accent1" phldr="1"/>
      <dgm:spPr/>
      <dgm:t>
        <a:bodyPr/>
        <a:lstStyle/>
        <a:p>
          <a:endParaRPr lang="en-ZA"/>
        </a:p>
      </dgm:t>
    </dgm:pt>
    <dgm:pt modelId="{536388A3-0A96-4724-9E0F-D6FCD2A02AFB}">
      <dgm:prSet phldrT="[Text]" phldr="0" custT="1"/>
      <dgm:spPr/>
      <dgm:t>
        <a:bodyPr/>
        <a:lstStyle/>
        <a:p>
          <a:pPr algn="ctr"/>
          <a:r>
            <a:rPr lang="en-ZA" sz="1400" b="1" u="sng"/>
            <a:t>REVENUE GROWTH</a:t>
          </a:r>
        </a:p>
        <a:p>
          <a:pPr algn="ctr"/>
          <a:r>
            <a:rPr lang="en-US" sz="1200" b="0" u="none"/>
            <a:t>Large drinks consistently outperform regular sizes in revenue. Train staff to promote upgrades.</a:t>
          </a:r>
        </a:p>
        <a:p>
          <a:pPr algn="ctr"/>
          <a:r>
            <a:rPr lang="en-US" sz="1200" b="0" u="none"/>
            <a:t>Specialty items (e.g., Civet Cat beans, Jamaican blends, organic chocolates) show strong demand. Position them as “signature experiences” with premium pricing.</a:t>
          </a:r>
        </a:p>
        <a:p>
          <a:pPr algn="ctr"/>
          <a:r>
            <a:rPr lang="en-US" sz="1200" b="0" u="none"/>
            <a:t>Chocolate Croissant is the only bakery item in the top 30 but performs well. Introduce more premium pastries to capture cross‑sell opportunities.</a:t>
          </a:r>
          <a:endParaRPr lang="en-ZA" sz="1200" b="0" u="none" dirty="0"/>
        </a:p>
      </dgm:t>
    </dgm:pt>
    <dgm:pt modelId="{6485FD7F-16E2-4A27-B4C7-A9313531BECC}" type="parTrans" cxnId="{47B3D5B9-0F92-40B2-8FF6-B3BD7DFB7B36}">
      <dgm:prSet/>
      <dgm:spPr/>
      <dgm:t>
        <a:bodyPr/>
        <a:lstStyle/>
        <a:p>
          <a:endParaRPr lang="en-ZA"/>
        </a:p>
      </dgm:t>
    </dgm:pt>
    <dgm:pt modelId="{74CC6D93-69A7-47BB-9B30-0D647F4BC5EC}" type="sibTrans" cxnId="{47B3D5B9-0F92-40B2-8FF6-B3BD7DFB7B36}">
      <dgm:prSet/>
      <dgm:spPr/>
      <dgm:t>
        <a:bodyPr/>
        <a:lstStyle/>
        <a:p>
          <a:endParaRPr lang="en-ZA"/>
        </a:p>
      </dgm:t>
    </dgm:pt>
    <dgm:pt modelId="{788F4CE4-3943-4907-8A1B-B64E5D45CDA1}">
      <dgm:prSet phldrT="[Text]" custT="1"/>
      <dgm:spPr/>
      <dgm:t>
        <a:bodyPr/>
        <a:lstStyle/>
        <a:p>
          <a:pPr algn="l">
            <a:buNone/>
          </a:pPr>
          <a:endParaRPr lang="en-ZA" sz="1600" b="1" u="sng"/>
        </a:p>
        <a:p>
          <a:pPr algn="l">
            <a:buNone/>
          </a:pPr>
          <a:r>
            <a:rPr lang="en-ZA" sz="1600" b="1" u="sng"/>
            <a:t>Product Strategy</a:t>
          </a:r>
        </a:p>
        <a:p>
          <a:pPr algn="l">
            <a:buFont typeface="Arial" panose="020B0604020202020204" pitchFamily="34" charset="0"/>
            <a:buChar char="•"/>
          </a:pPr>
          <a:r>
            <a:rPr lang="en-US" sz="1200" b="1" u="none"/>
            <a:t>Optimize Core Categories: </a:t>
          </a:r>
          <a:r>
            <a:rPr lang="en-US" sz="1200" b="0" u="none"/>
            <a:t>Coffee, tea, and drinking chocolate are the backbone. Ensure consistent quality, stock availability, and marketing focus.</a:t>
          </a:r>
        </a:p>
        <a:p>
          <a:pPr algn="l">
            <a:buFont typeface="Arial" panose="020B0604020202020204" pitchFamily="34" charset="0"/>
            <a:buChar char="•"/>
          </a:pPr>
          <a:r>
            <a:rPr lang="en-US" sz="1200" b="1" u="none"/>
            <a:t>Revitalize Underperformers: </a:t>
          </a:r>
          <a:r>
            <a:rPr lang="en-US" sz="1200" b="0" u="none"/>
            <a:t>Branded merchandise and packaged chocolate have low traction. Consider redesigning packaging, bundling with drinks, or seasonal promotions.</a:t>
          </a:r>
        </a:p>
        <a:p>
          <a:pPr algn="l">
            <a:buNone/>
          </a:pPr>
          <a:r>
            <a:rPr lang="en-US" sz="1200" b="1" u="none"/>
            <a:t>Seasonal Innovation: </a:t>
          </a:r>
          <a:r>
            <a:rPr lang="en-US" sz="1200" b="0" u="none"/>
            <a:t>Introduce limited‑time flavors (e.g., festive teas, summer iced coffees) to drive novelty and repeat purchases.</a:t>
          </a:r>
          <a:endParaRPr lang="en-ZA" sz="1400" b="0" u="none"/>
        </a:p>
        <a:p>
          <a:pPr algn="l">
            <a:buNone/>
          </a:pPr>
          <a:endParaRPr lang="en-ZA" sz="1600" b="1" u="sng" dirty="0"/>
        </a:p>
      </dgm:t>
    </dgm:pt>
    <dgm:pt modelId="{06507768-5A82-43BB-87AD-4CED2B149B29}" type="parTrans" cxnId="{FE9EFB72-ADB1-4D1D-82A5-A3252C7AF4D7}">
      <dgm:prSet/>
      <dgm:spPr/>
      <dgm:t>
        <a:bodyPr/>
        <a:lstStyle/>
        <a:p>
          <a:endParaRPr lang="en-ZA"/>
        </a:p>
      </dgm:t>
    </dgm:pt>
    <dgm:pt modelId="{C5643483-17AA-498D-ABBE-651966BA777D}" type="sibTrans" cxnId="{FE9EFB72-ADB1-4D1D-82A5-A3252C7AF4D7}">
      <dgm:prSet/>
      <dgm:spPr/>
      <dgm:t>
        <a:bodyPr/>
        <a:lstStyle/>
        <a:p>
          <a:endParaRPr lang="en-ZA"/>
        </a:p>
      </dgm:t>
    </dgm:pt>
    <dgm:pt modelId="{8394527B-4C01-448E-8995-CEFC6789C2E2}">
      <dgm:prSet phldrT="[Text]" custT="1"/>
      <dgm:spPr/>
      <dgm:t>
        <a:bodyPr/>
        <a:lstStyle/>
        <a:p>
          <a:pPr algn="r"/>
          <a:r>
            <a:rPr lang="en-ZA" sz="1400" b="1" u="sng"/>
            <a:t>Store &amp; Time Slot Optimization</a:t>
          </a:r>
        </a:p>
        <a:p>
          <a:pPr algn="r"/>
          <a:r>
            <a:rPr lang="en-US" sz="1200" b="0" u="none"/>
            <a:t>Astoria → Strength in late lunch; expand afternoon promotions.</a:t>
          </a:r>
        </a:p>
        <a:p>
          <a:pPr algn="r"/>
          <a:r>
            <a:rPr lang="en-US" sz="1200" b="0" u="none"/>
            <a:t>Hell’s Kitchen → Brunch leader; capitalize with brunch combos and loyalty offers.</a:t>
          </a:r>
        </a:p>
        <a:p>
          <a:pPr algn="r"/>
          <a:r>
            <a:rPr lang="en-US" sz="1200" b="0" u="none"/>
            <a:t>Lower Manhattan → Breakfast stronghold; introduce </a:t>
          </a:r>
          <a:r>
            <a:rPr lang="en-US" sz="1200" b="0" i="1" u="none"/>
            <a:t>Morning bundles </a:t>
          </a:r>
          <a:r>
            <a:rPr lang="en-US" sz="1200" b="0" u="none"/>
            <a:t>for commuters.</a:t>
          </a:r>
        </a:p>
        <a:p>
          <a:pPr algn="r"/>
          <a:r>
            <a:rPr lang="en-US" sz="1200" b="0" u="none"/>
            <a:t>Boost Lunch Sales: Lunch is consistently the weakest slot. Launch targeted campaigns (discounted lunch combos, loyalty points during 12–3pm).</a:t>
          </a:r>
        </a:p>
        <a:p>
          <a:pPr algn="r"/>
          <a:r>
            <a:rPr lang="en-US" sz="1200" b="0" u="none"/>
            <a:t>Weekend Engagement: Weekday sales dominate. Create weekend family packages, live events, or </a:t>
          </a:r>
          <a:r>
            <a:rPr lang="en-US" sz="1200" b="0" i="1" u="none"/>
            <a:t>weekend specials </a:t>
          </a:r>
          <a:r>
            <a:rPr lang="en-US" sz="1200" b="0" u="none"/>
            <a:t>to grow weekend traffic.</a:t>
          </a:r>
          <a:endParaRPr lang="en-ZA" sz="1200" b="1" u="sng" dirty="0"/>
        </a:p>
      </dgm:t>
    </dgm:pt>
    <dgm:pt modelId="{165F4104-4A3E-4EF7-8422-1F217A7E38BD}" type="parTrans" cxnId="{ADB6C504-4FB9-4F7D-83AF-97E82F07C0B0}">
      <dgm:prSet/>
      <dgm:spPr/>
      <dgm:t>
        <a:bodyPr/>
        <a:lstStyle/>
        <a:p>
          <a:endParaRPr lang="en-ZA"/>
        </a:p>
      </dgm:t>
    </dgm:pt>
    <dgm:pt modelId="{A126BBC3-BCAF-4104-9021-58C5645294A2}" type="sibTrans" cxnId="{ADB6C504-4FB9-4F7D-83AF-97E82F07C0B0}">
      <dgm:prSet/>
      <dgm:spPr/>
      <dgm:t>
        <a:bodyPr/>
        <a:lstStyle/>
        <a:p>
          <a:endParaRPr lang="en-ZA"/>
        </a:p>
      </dgm:t>
    </dgm:pt>
    <dgm:pt modelId="{98538641-B53E-4291-AC71-A56D59457454}">
      <dgm:prSet phldrT="[Text]" custT="1"/>
      <dgm:spPr/>
      <dgm:t>
        <a:bodyPr/>
        <a:lstStyle/>
        <a:p>
          <a:pPr algn="l"/>
          <a:r>
            <a:rPr lang="en-ZA" sz="1400" b="1" u="sng" dirty="0"/>
            <a:t>Operational Excellence</a:t>
          </a:r>
        </a:p>
        <a:p>
          <a:pPr algn="l"/>
          <a:r>
            <a:rPr lang="en-US" sz="1200" b="1" u="none" dirty="0"/>
            <a:t>Automate Reporting: </a:t>
          </a:r>
          <a:r>
            <a:rPr lang="en-US" sz="1200" b="0" u="none" dirty="0"/>
            <a:t>Implement daily dashboards for store managers to monitor sales by product, time slot, and spend bracket.</a:t>
          </a:r>
        </a:p>
        <a:p>
          <a:pPr algn="l"/>
          <a:r>
            <a:rPr lang="en-US" sz="1200" b="1" u="none" dirty="0"/>
            <a:t>Inventory Alignment: </a:t>
          </a:r>
          <a:r>
            <a:rPr lang="en-US" sz="1200" b="0" u="none" dirty="0"/>
            <a:t>Stock more of high‑performing items (coffee, tea, chocolate drinks) and reduce waste from low‑performing categories.</a:t>
          </a:r>
        </a:p>
        <a:p>
          <a:pPr algn="l"/>
          <a:r>
            <a:rPr lang="en-US" sz="1200" b="1" u="none" dirty="0"/>
            <a:t>Scalability: </a:t>
          </a:r>
          <a:r>
            <a:rPr lang="en-US" sz="1200" b="0" u="none" dirty="0"/>
            <a:t>Use insights to prepare for multi‑location expansion, ensuring each store leverages its unique strengths.</a:t>
          </a:r>
          <a:endParaRPr lang="en-ZA" sz="1200" b="0" u="none" dirty="0"/>
        </a:p>
        <a:p>
          <a:pPr algn="l"/>
          <a:endParaRPr lang="en-ZA" sz="1200" b="0" u="none" dirty="0"/>
        </a:p>
      </dgm:t>
    </dgm:pt>
    <dgm:pt modelId="{89ACA9B3-F5DE-4FE7-9DAE-4554856D8516}" type="parTrans" cxnId="{E49D3CF4-EF5E-46CD-A9D1-28E551B853CD}">
      <dgm:prSet/>
      <dgm:spPr/>
      <dgm:t>
        <a:bodyPr/>
        <a:lstStyle/>
        <a:p>
          <a:endParaRPr lang="en-ZA"/>
        </a:p>
      </dgm:t>
    </dgm:pt>
    <dgm:pt modelId="{F65E7707-9FDA-49C2-9D8E-302EEB2120BF}" type="sibTrans" cxnId="{E49D3CF4-EF5E-46CD-A9D1-28E551B853CD}">
      <dgm:prSet/>
      <dgm:spPr/>
      <dgm:t>
        <a:bodyPr/>
        <a:lstStyle/>
        <a:p>
          <a:endParaRPr lang="en-ZA"/>
        </a:p>
      </dgm:t>
    </dgm:pt>
    <dgm:pt modelId="{38D554B0-FACC-4F6D-8D7F-B966D40E4F59}">
      <dgm:prSet phldrT="[Text]" custT="1"/>
      <dgm:spPr/>
      <dgm:t>
        <a:bodyPr/>
        <a:lstStyle/>
        <a:p>
          <a:pPr algn="r"/>
          <a:r>
            <a:rPr lang="en-ZA" sz="1400" b="1" u="sng"/>
            <a:t>Customer Engagement &amp; Marketing</a:t>
          </a:r>
        </a:p>
        <a:p>
          <a:pPr algn="r"/>
          <a:r>
            <a:rPr lang="en-US" sz="1200" b="1" u="none"/>
            <a:t>Loyalty Programs: </a:t>
          </a:r>
          <a:r>
            <a:rPr lang="en-US" sz="1200" b="0" u="none"/>
            <a:t>Reward frequent buyers, especially during off‑peak slots (e.g., double points at lunch).</a:t>
          </a:r>
        </a:p>
        <a:p>
          <a:pPr algn="r"/>
          <a:r>
            <a:rPr lang="en-US" sz="1200" b="1" u="none"/>
            <a:t>Data‑Driven Promotions: </a:t>
          </a:r>
          <a:r>
            <a:rPr lang="en-US" sz="1200" b="0" u="none"/>
            <a:t>Use transactional insights to personalize offers (e.g., tea lovers get tea promotions, coffee loyalists get bundle deals).</a:t>
          </a:r>
        </a:p>
        <a:p>
          <a:pPr algn="r"/>
          <a:r>
            <a:rPr lang="en-US" sz="1200" b="1" u="none"/>
            <a:t>Community Building: </a:t>
          </a:r>
          <a:r>
            <a:rPr lang="en-US" sz="1200" b="0" u="none"/>
            <a:t>Position Bright Coffee Shop as a lifestyle brand — host coffee tastings, tea workshops, or chocolate pairing events.</a:t>
          </a:r>
          <a:endParaRPr lang="en-ZA" sz="1200" b="0" u="none" dirty="0"/>
        </a:p>
      </dgm:t>
    </dgm:pt>
    <dgm:pt modelId="{8A8AE8FD-D6E4-4465-AC6F-C4DE83C35E6A}" type="parTrans" cxnId="{98B18EE4-8D6E-422A-984F-C3FC5A182972}">
      <dgm:prSet/>
      <dgm:spPr/>
      <dgm:t>
        <a:bodyPr/>
        <a:lstStyle/>
        <a:p>
          <a:endParaRPr lang="en-ZA"/>
        </a:p>
      </dgm:t>
    </dgm:pt>
    <dgm:pt modelId="{CC7CAED0-24CF-4F15-BE25-38F69D678C71}" type="sibTrans" cxnId="{98B18EE4-8D6E-422A-984F-C3FC5A182972}">
      <dgm:prSet/>
      <dgm:spPr/>
      <dgm:t>
        <a:bodyPr/>
        <a:lstStyle/>
        <a:p>
          <a:endParaRPr lang="en-ZA"/>
        </a:p>
      </dgm:t>
    </dgm:pt>
    <dgm:pt modelId="{AF2C10B9-DB17-435A-B255-1569CD3C7CF4}" type="pres">
      <dgm:prSet presAssocID="{B4D9FADA-50AD-47A9-A904-E2ADF63F9931}" presName="diagram" presStyleCnt="0">
        <dgm:presLayoutVars>
          <dgm:chMax val="1"/>
          <dgm:dir/>
          <dgm:animLvl val="ctr"/>
          <dgm:resizeHandles val="exact"/>
        </dgm:presLayoutVars>
      </dgm:prSet>
      <dgm:spPr/>
    </dgm:pt>
    <dgm:pt modelId="{955FC8E9-5A05-471C-AED9-6EEFDAF8E605}" type="pres">
      <dgm:prSet presAssocID="{B4D9FADA-50AD-47A9-A904-E2ADF63F9931}" presName="matrix" presStyleCnt="0"/>
      <dgm:spPr/>
    </dgm:pt>
    <dgm:pt modelId="{3F0D81F1-8712-4DB8-8CF1-71F7F4080DCF}" type="pres">
      <dgm:prSet presAssocID="{B4D9FADA-50AD-47A9-A904-E2ADF63F9931}" presName="tile1" presStyleLbl="node1" presStyleIdx="0" presStyleCnt="4"/>
      <dgm:spPr/>
    </dgm:pt>
    <dgm:pt modelId="{F01940C2-7F73-48F8-B19D-E328540D29D4}" type="pres">
      <dgm:prSet presAssocID="{B4D9FADA-50AD-47A9-A904-E2ADF63F9931}" presName="tile1text" presStyleLbl="node1" presStyleIdx="0" presStyleCnt="4">
        <dgm:presLayoutVars>
          <dgm:chMax val="0"/>
          <dgm:chPref val="0"/>
          <dgm:bulletEnabled val="1"/>
        </dgm:presLayoutVars>
      </dgm:prSet>
      <dgm:spPr/>
    </dgm:pt>
    <dgm:pt modelId="{8CD87CF0-F166-4D98-91F7-386EEE25F9DB}" type="pres">
      <dgm:prSet presAssocID="{B4D9FADA-50AD-47A9-A904-E2ADF63F9931}" presName="tile2" presStyleLbl="node1" presStyleIdx="1" presStyleCnt="4" custScaleX="100794" custLinFactNeighborX="-124" custLinFactNeighborY="16"/>
      <dgm:spPr/>
    </dgm:pt>
    <dgm:pt modelId="{8EDE5AFE-D42F-424B-BE06-71E3A313C024}" type="pres">
      <dgm:prSet presAssocID="{B4D9FADA-50AD-47A9-A904-E2ADF63F9931}" presName="tile2text" presStyleLbl="node1" presStyleIdx="1" presStyleCnt="4">
        <dgm:presLayoutVars>
          <dgm:chMax val="0"/>
          <dgm:chPref val="0"/>
          <dgm:bulletEnabled val="1"/>
        </dgm:presLayoutVars>
      </dgm:prSet>
      <dgm:spPr/>
    </dgm:pt>
    <dgm:pt modelId="{6F155422-7544-43AA-A40D-C1EEF886A806}" type="pres">
      <dgm:prSet presAssocID="{B4D9FADA-50AD-47A9-A904-E2ADF63F9931}" presName="tile3" presStyleLbl="node1" presStyleIdx="2" presStyleCnt="4"/>
      <dgm:spPr/>
    </dgm:pt>
    <dgm:pt modelId="{42B53005-901E-4DE9-90BD-CF510043C256}" type="pres">
      <dgm:prSet presAssocID="{B4D9FADA-50AD-47A9-A904-E2ADF63F9931}" presName="tile3text" presStyleLbl="node1" presStyleIdx="2" presStyleCnt="4">
        <dgm:presLayoutVars>
          <dgm:chMax val="0"/>
          <dgm:chPref val="0"/>
          <dgm:bulletEnabled val="1"/>
        </dgm:presLayoutVars>
      </dgm:prSet>
      <dgm:spPr/>
    </dgm:pt>
    <dgm:pt modelId="{9F1C5BFC-09C0-47B7-BA23-E8B631E68C26}" type="pres">
      <dgm:prSet presAssocID="{B4D9FADA-50AD-47A9-A904-E2ADF63F9931}" presName="tile4" presStyleLbl="node1" presStyleIdx="3" presStyleCnt="4"/>
      <dgm:spPr/>
    </dgm:pt>
    <dgm:pt modelId="{83ABC1AA-0FB2-461E-8FC5-54A68C97A89E}" type="pres">
      <dgm:prSet presAssocID="{B4D9FADA-50AD-47A9-A904-E2ADF63F9931}" presName="tile4text" presStyleLbl="node1" presStyleIdx="3" presStyleCnt="4">
        <dgm:presLayoutVars>
          <dgm:chMax val="0"/>
          <dgm:chPref val="0"/>
          <dgm:bulletEnabled val="1"/>
        </dgm:presLayoutVars>
      </dgm:prSet>
      <dgm:spPr/>
    </dgm:pt>
    <dgm:pt modelId="{40B543E4-C4D1-406A-95D1-E9663EC782E4}" type="pres">
      <dgm:prSet presAssocID="{B4D9FADA-50AD-47A9-A904-E2ADF63F9931}" presName="centerTile" presStyleLbl="fgShp" presStyleIdx="0" presStyleCnt="1" custScaleX="107854" custScaleY="150241">
        <dgm:presLayoutVars>
          <dgm:chMax val="0"/>
          <dgm:chPref val="0"/>
        </dgm:presLayoutVars>
      </dgm:prSet>
      <dgm:spPr/>
    </dgm:pt>
  </dgm:ptLst>
  <dgm:cxnLst>
    <dgm:cxn modelId="{ADB6C504-4FB9-4F7D-83AF-97E82F07C0B0}" srcId="{536388A3-0A96-4724-9E0F-D6FCD2A02AFB}" destId="{8394527B-4C01-448E-8995-CEFC6789C2E2}" srcOrd="1" destOrd="0" parTransId="{165F4104-4A3E-4EF7-8422-1F217A7E38BD}" sibTransId="{A126BBC3-BCAF-4104-9021-58C5645294A2}"/>
    <dgm:cxn modelId="{C5B48B24-BC1B-425B-8022-F97E8391774A}" type="presOf" srcId="{536388A3-0A96-4724-9E0F-D6FCD2A02AFB}" destId="{40B543E4-C4D1-406A-95D1-E9663EC782E4}" srcOrd="0" destOrd="0" presId="urn:microsoft.com/office/officeart/2005/8/layout/matrix1"/>
    <dgm:cxn modelId="{F8CFF439-FC4D-47D0-9542-82A21435E239}" type="presOf" srcId="{B4D9FADA-50AD-47A9-A904-E2ADF63F9931}" destId="{AF2C10B9-DB17-435A-B255-1569CD3C7CF4}" srcOrd="0" destOrd="0" presId="urn:microsoft.com/office/officeart/2005/8/layout/matrix1"/>
    <dgm:cxn modelId="{D480E847-E53D-46AC-9FBA-59EC582F4302}" type="presOf" srcId="{38D554B0-FACC-4F6D-8D7F-B966D40E4F59}" destId="{9F1C5BFC-09C0-47B7-BA23-E8B631E68C26}" srcOrd="0" destOrd="0" presId="urn:microsoft.com/office/officeart/2005/8/layout/matrix1"/>
    <dgm:cxn modelId="{FE9EFB72-ADB1-4D1D-82A5-A3252C7AF4D7}" srcId="{536388A3-0A96-4724-9E0F-D6FCD2A02AFB}" destId="{788F4CE4-3943-4907-8A1B-B64E5D45CDA1}" srcOrd="0" destOrd="0" parTransId="{06507768-5A82-43BB-87AD-4CED2B149B29}" sibTransId="{C5643483-17AA-498D-ABBE-651966BA777D}"/>
    <dgm:cxn modelId="{E2BDF5A5-B311-405C-8ABB-3C3FAE4629AC}" type="presOf" srcId="{8394527B-4C01-448E-8995-CEFC6789C2E2}" destId="{8CD87CF0-F166-4D98-91F7-386EEE25F9DB}" srcOrd="0" destOrd="0" presId="urn:microsoft.com/office/officeart/2005/8/layout/matrix1"/>
    <dgm:cxn modelId="{F20D59A9-F0F4-447D-BA28-7152B19E370C}" type="presOf" srcId="{788F4CE4-3943-4907-8A1B-B64E5D45CDA1}" destId="{F01940C2-7F73-48F8-B19D-E328540D29D4}" srcOrd="1" destOrd="0" presId="urn:microsoft.com/office/officeart/2005/8/layout/matrix1"/>
    <dgm:cxn modelId="{F8A807AF-1F87-4D32-8BB1-B9DFC7100C14}" type="presOf" srcId="{788F4CE4-3943-4907-8A1B-B64E5D45CDA1}" destId="{3F0D81F1-8712-4DB8-8CF1-71F7F4080DCF}" srcOrd="0" destOrd="0" presId="urn:microsoft.com/office/officeart/2005/8/layout/matrix1"/>
    <dgm:cxn modelId="{47B3D5B9-0F92-40B2-8FF6-B3BD7DFB7B36}" srcId="{B4D9FADA-50AD-47A9-A904-E2ADF63F9931}" destId="{536388A3-0A96-4724-9E0F-D6FCD2A02AFB}" srcOrd="0" destOrd="0" parTransId="{6485FD7F-16E2-4A27-B4C7-A9313531BECC}" sibTransId="{74CC6D93-69A7-47BB-9B30-0D647F4BC5EC}"/>
    <dgm:cxn modelId="{19FCB3CE-B6FA-4489-9671-E9D1DF223946}" type="presOf" srcId="{98538641-B53E-4291-AC71-A56D59457454}" destId="{6F155422-7544-43AA-A40D-C1EEF886A806}" srcOrd="0" destOrd="0" presId="urn:microsoft.com/office/officeart/2005/8/layout/matrix1"/>
    <dgm:cxn modelId="{B22148DE-3C0C-4540-8741-66D499DBCFB2}" type="presOf" srcId="{98538641-B53E-4291-AC71-A56D59457454}" destId="{42B53005-901E-4DE9-90BD-CF510043C256}" srcOrd="1" destOrd="0" presId="urn:microsoft.com/office/officeart/2005/8/layout/matrix1"/>
    <dgm:cxn modelId="{98B18EE4-8D6E-422A-984F-C3FC5A182972}" srcId="{536388A3-0A96-4724-9E0F-D6FCD2A02AFB}" destId="{38D554B0-FACC-4F6D-8D7F-B966D40E4F59}" srcOrd="3" destOrd="0" parTransId="{8A8AE8FD-D6E4-4465-AC6F-C4DE83C35E6A}" sibTransId="{CC7CAED0-24CF-4F15-BE25-38F69D678C71}"/>
    <dgm:cxn modelId="{BD485DEB-259C-4D12-B5B3-DF74DAB22429}" type="presOf" srcId="{38D554B0-FACC-4F6D-8D7F-B966D40E4F59}" destId="{83ABC1AA-0FB2-461E-8FC5-54A68C97A89E}" srcOrd="1" destOrd="0" presId="urn:microsoft.com/office/officeart/2005/8/layout/matrix1"/>
    <dgm:cxn modelId="{E49D3CF4-EF5E-46CD-A9D1-28E551B853CD}" srcId="{536388A3-0A96-4724-9E0F-D6FCD2A02AFB}" destId="{98538641-B53E-4291-AC71-A56D59457454}" srcOrd="2" destOrd="0" parTransId="{89ACA9B3-F5DE-4FE7-9DAE-4554856D8516}" sibTransId="{F65E7707-9FDA-49C2-9D8E-302EEB2120BF}"/>
    <dgm:cxn modelId="{8A9FC2FA-312B-4FB4-82C0-0166E9168E96}" type="presOf" srcId="{8394527B-4C01-448E-8995-CEFC6789C2E2}" destId="{8EDE5AFE-D42F-424B-BE06-71E3A313C024}" srcOrd="1" destOrd="0" presId="urn:microsoft.com/office/officeart/2005/8/layout/matrix1"/>
    <dgm:cxn modelId="{52134ECA-838E-4943-A015-231AECD51D44}" type="presParOf" srcId="{AF2C10B9-DB17-435A-B255-1569CD3C7CF4}" destId="{955FC8E9-5A05-471C-AED9-6EEFDAF8E605}" srcOrd="0" destOrd="0" presId="urn:microsoft.com/office/officeart/2005/8/layout/matrix1"/>
    <dgm:cxn modelId="{446158C5-1763-4C3E-ACA8-01C510ABA8AA}" type="presParOf" srcId="{955FC8E9-5A05-471C-AED9-6EEFDAF8E605}" destId="{3F0D81F1-8712-4DB8-8CF1-71F7F4080DCF}" srcOrd="0" destOrd="0" presId="urn:microsoft.com/office/officeart/2005/8/layout/matrix1"/>
    <dgm:cxn modelId="{B41D39BB-388B-48D5-988A-594637E6A66C}" type="presParOf" srcId="{955FC8E9-5A05-471C-AED9-6EEFDAF8E605}" destId="{F01940C2-7F73-48F8-B19D-E328540D29D4}" srcOrd="1" destOrd="0" presId="urn:microsoft.com/office/officeart/2005/8/layout/matrix1"/>
    <dgm:cxn modelId="{D1AFC2E5-C126-46AC-B070-C7C866CB4871}" type="presParOf" srcId="{955FC8E9-5A05-471C-AED9-6EEFDAF8E605}" destId="{8CD87CF0-F166-4D98-91F7-386EEE25F9DB}" srcOrd="2" destOrd="0" presId="urn:microsoft.com/office/officeart/2005/8/layout/matrix1"/>
    <dgm:cxn modelId="{DEE177AF-91DF-48E5-A6D1-35E88886FCF7}" type="presParOf" srcId="{955FC8E9-5A05-471C-AED9-6EEFDAF8E605}" destId="{8EDE5AFE-D42F-424B-BE06-71E3A313C024}" srcOrd="3" destOrd="0" presId="urn:microsoft.com/office/officeart/2005/8/layout/matrix1"/>
    <dgm:cxn modelId="{46B4BB59-FAAF-4D6A-9756-AF6097A4BEE5}" type="presParOf" srcId="{955FC8E9-5A05-471C-AED9-6EEFDAF8E605}" destId="{6F155422-7544-43AA-A40D-C1EEF886A806}" srcOrd="4" destOrd="0" presId="urn:microsoft.com/office/officeart/2005/8/layout/matrix1"/>
    <dgm:cxn modelId="{9CC56D9F-DB19-4733-A258-25DC645C9B1B}" type="presParOf" srcId="{955FC8E9-5A05-471C-AED9-6EEFDAF8E605}" destId="{42B53005-901E-4DE9-90BD-CF510043C256}" srcOrd="5" destOrd="0" presId="urn:microsoft.com/office/officeart/2005/8/layout/matrix1"/>
    <dgm:cxn modelId="{1B94020E-C7D5-46D9-AF87-105D34C062F4}" type="presParOf" srcId="{955FC8E9-5A05-471C-AED9-6EEFDAF8E605}" destId="{9F1C5BFC-09C0-47B7-BA23-E8B631E68C26}" srcOrd="6" destOrd="0" presId="urn:microsoft.com/office/officeart/2005/8/layout/matrix1"/>
    <dgm:cxn modelId="{11E55314-3A51-4BD9-AC26-3E294DC8809F}" type="presParOf" srcId="{955FC8E9-5A05-471C-AED9-6EEFDAF8E605}" destId="{83ABC1AA-0FB2-461E-8FC5-54A68C97A89E}" srcOrd="7" destOrd="0" presId="urn:microsoft.com/office/officeart/2005/8/layout/matrix1"/>
    <dgm:cxn modelId="{F20AA0F1-585D-4A1F-AC18-43D2963F3721}" type="presParOf" srcId="{AF2C10B9-DB17-435A-B255-1569CD3C7CF4}" destId="{40B543E4-C4D1-406A-95D1-E9663EC782E4}"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588297-60E7-456B-9016-D10A90FC9EA0}">
      <dsp:nvSpPr>
        <dsp:cNvPr id="0" name=""/>
        <dsp:cNvSpPr/>
      </dsp:nvSpPr>
      <dsp:spPr>
        <a:xfrm>
          <a:off x="703049" y="35064"/>
          <a:ext cx="1955812" cy="1955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19B4FD-8ECD-48B8-AE22-D7B586F34DAD}">
      <dsp:nvSpPr>
        <dsp:cNvPr id="0" name=""/>
        <dsp:cNvSpPr/>
      </dsp:nvSpPr>
      <dsp:spPr>
        <a:xfrm>
          <a:off x="1119862" y="451877"/>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6225B5F-1EC4-4DA3-B71B-391360CEDF97}">
      <dsp:nvSpPr>
        <dsp:cNvPr id="0" name=""/>
        <dsp:cNvSpPr/>
      </dsp:nvSpPr>
      <dsp:spPr>
        <a:xfrm>
          <a:off x="77831" y="2600065"/>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100000"/>
            </a:lnSpc>
            <a:spcBef>
              <a:spcPct val="0"/>
            </a:spcBef>
            <a:spcAft>
              <a:spcPct val="35000"/>
            </a:spcAft>
            <a:buNone/>
            <a:defRPr cap="all"/>
          </a:pPr>
          <a:r>
            <a:rPr lang="en-US" sz="3000" kern="1200" noProof="0"/>
            <a:t>Revenue Analysis</a:t>
          </a:r>
        </a:p>
      </dsp:txBody>
      <dsp:txXfrm>
        <a:off x="77831" y="2600065"/>
        <a:ext cx="3206250" cy="720000"/>
      </dsp:txXfrm>
    </dsp:sp>
    <dsp:sp modelId="{FA056AD6-E85C-4A25-8109-0F9825ACA61A}">
      <dsp:nvSpPr>
        <dsp:cNvPr id="0" name=""/>
        <dsp:cNvSpPr/>
      </dsp:nvSpPr>
      <dsp:spPr>
        <a:xfrm>
          <a:off x="4470393" y="35064"/>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9F84CA-A1DA-43EE-BFA0-0B10DE5F3979}">
      <dsp:nvSpPr>
        <dsp:cNvPr id="0" name=""/>
        <dsp:cNvSpPr/>
      </dsp:nvSpPr>
      <dsp:spPr>
        <a:xfrm>
          <a:off x="4887206" y="451877"/>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1509E8-E680-47E5-A637-CF87EFC47FB9}">
      <dsp:nvSpPr>
        <dsp:cNvPr id="0" name=""/>
        <dsp:cNvSpPr/>
      </dsp:nvSpPr>
      <dsp:spPr>
        <a:xfrm>
          <a:off x="3845175" y="2600065"/>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100000"/>
            </a:lnSpc>
            <a:spcBef>
              <a:spcPct val="0"/>
            </a:spcBef>
            <a:spcAft>
              <a:spcPct val="35000"/>
            </a:spcAft>
            <a:buNone/>
            <a:defRPr cap="all"/>
          </a:pPr>
          <a:r>
            <a:rPr lang="en-US" sz="3000" kern="1200" noProof="0"/>
            <a:t>Store Analysis</a:t>
          </a:r>
        </a:p>
      </dsp:txBody>
      <dsp:txXfrm>
        <a:off x="3845175" y="2600065"/>
        <a:ext cx="3206250" cy="720000"/>
      </dsp:txXfrm>
    </dsp:sp>
    <dsp:sp modelId="{DCD7C749-8896-4B3D-BF14-91AE042AE334}">
      <dsp:nvSpPr>
        <dsp:cNvPr id="0" name=""/>
        <dsp:cNvSpPr/>
      </dsp:nvSpPr>
      <dsp:spPr>
        <a:xfrm>
          <a:off x="8237737" y="35064"/>
          <a:ext cx="1955812" cy="1955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003D83-7CF6-489A-874C-3BBB12C85718}">
      <dsp:nvSpPr>
        <dsp:cNvPr id="0" name=""/>
        <dsp:cNvSpPr/>
      </dsp:nvSpPr>
      <dsp:spPr>
        <a:xfrm>
          <a:off x="8654550" y="451877"/>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40E4D6-E668-454D-96B0-1D38A66C8011}">
      <dsp:nvSpPr>
        <dsp:cNvPr id="0" name=""/>
        <dsp:cNvSpPr/>
      </dsp:nvSpPr>
      <dsp:spPr>
        <a:xfrm>
          <a:off x="7612518" y="2600065"/>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33500">
            <a:lnSpc>
              <a:spcPct val="100000"/>
            </a:lnSpc>
            <a:spcBef>
              <a:spcPct val="0"/>
            </a:spcBef>
            <a:spcAft>
              <a:spcPct val="35000"/>
            </a:spcAft>
            <a:buNone/>
            <a:defRPr cap="all"/>
          </a:pPr>
          <a:r>
            <a:rPr lang="en-US" sz="3000" kern="1200" noProof="0"/>
            <a:t>Product Analysis</a:t>
          </a:r>
        </a:p>
      </dsp:txBody>
      <dsp:txXfrm>
        <a:off x="7612518" y="2600065"/>
        <a:ext cx="32062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D81F1-8712-4DB8-8CF1-71F7F4080DCF}">
      <dsp:nvSpPr>
        <dsp:cNvPr id="0" name=""/>
        <dsp:cNvSpPr/>
      </dsp:nvSpPr>
      <dsp:spPr>
        <a:xfrm rot="16200000">
          <a:off x="1324729" y="-1335559"/>
          <a:ext cx="2785153" cy="5456272"/>
        </a:xfrm>
        <a:prstGeom prst="round1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endParaRPr lang="en-ZA" sz="1600" b="1" u="sng" kern="1200"/>
        </a:p>
        <a:p>
          <a:pPr marL="0" lvl="0" indent="0" algn="l" defTabSz="711200">
            <a:lnSpc>
              <a:spcPct val="90000"/>
            </a:lnSpc>
            <a:spcBef>
              <a:spcPct val="0"/>
            </a:spcBef>
            <a:spcAft>
              <a:spcPct val="35000"/>
            </a:spcAft>
            <a:buNone/>
          </a:pPr>
          <a:r>
            <a:rPr lang="en-ZA" sz="1600" b="1" u="sng" kern="1200"/>
            <a:t>Product Strategy</a:t>
          </a:r>
        </a:p>
        <a:p>
          <a:pPr marL="0" lvl="0" indent="0" algn="l" defTabSz="711200">
            <a:lnSpc>
              <a:spcPct val="90000"/>
            </a:lnSpc>
            <a:spcBef>
              <a:spcPct val="0"/>
            </a:spcBef>
            <a:spcAft>
              <a:spcPct val="35000"/>
            </a:spcAft>
            <a:buFont typeface="Arial" panose="020B0604020202020204" pitchFamily="34" charset="0"/>
            <a:buNone/>
          </a:pPr>
          <a:r>
            <a:rPr lang="en-US" sz="1200" b="1" u="none" kern="1200"/>
            <a:t>Optimize Core Categories: </a:t>
          </a:r>
          <a:r>
            <a:rPr lang="en-US" sz="1200" b="0" u="none" kern="1200"/>
            <a:t>Coffee, tea, and drinking chocolate are the backbone. Ensure consistent quality, stock availability, and marketing focus.</a:t>
          </a:r>
        </a:p>
        <a:p>
          <a:pPr marL="0" lvl="0" indent="0" algn="l" defTabSz="711200">
            <a:lnSpc>
              <a:spcPct val="90000"/>
            </a:lnSpc>
            <a:spcBef>
              <a:spcPct val="0"/>
            </a:spcBef>
            <a:spcAft>
              <a:spcPct val="35000"/>
            </a:spcAft>
            <a:buFont typeface="Arial" panose="020B0604020202020204" pitchFamily="34" charset="0"/>
            <a:buNone/>
          </a:pPr>
          <a:r>
            <a:rPr lang="en-US" sz="1200" b="1" u="none" kern="1200"/>
            <a:t>Revitalize Underperformers: </a:t>
          </a:r>
          <a:r>
            <a:rPr lang="en-US" sz="1200" b="0" u="none" kern="1200"/>
            <a:t>Branded merchandise and packaged chocolate have low traction. Consider redesigning packaging, bundling with drinks, or seasonal promotions.</a:t>
          </a:r>
        </a:p>
        <a:p>
          <a:pPr marL="0" lvl="0" indent="0" algn="l" defTabSz="711200">
            <a:lnSpc>
              <a:spcPct val="90000"/>
            </a:lnSpc>
            <a:spcBef>
              <a:spcPct val="0"/>
            </a:spcBef>
            <a:spcAft>
              <a:spcPct val="35000"/>
            </a:spcAft>
            <a:buNone/>
          </a:pPr>
          <a:r>
            <a:rPr lang="en-US" sz="1200" b="1" u="none" kern="1200"/>
            <a:t>Seasonal Innovation: </a:t>
          </a:r>
          <a:r>
            <a:rPr lang="en-US" sz="1200" b="0" u="none" kern="1200"/>
            <a:t>Introduce limited‑time flavors (e.g., festive teas, summer iced coffees) to drive novelty and repeat purchases.</a:t>
          </a:r>
          <a:endParaRPr lang="en-ZA" sz="1400" b="0" u="none" kern="1200"/>
        </a:p>
        <a:p>
          <a:pPr marL="0" lvl="0" indent="0" algn="l" defTabSz="711200">
            <a:lnSpc>
              <a:spcPct val="90000"/>
            </a:lnSpc>
            <a:spcBef>
              <a:spcPct val="0"/>
            </a:spcBef>
            <a:spcAft>
              <a:spcPct val="35000"/>
            </a:spcAft>
            <a:buNone/>
          </a:pPr>
          <a:endParaRPr lang="en-ZA" sz="1600" b="1" u="sng" kern="1200" dirty="0"/>
        </a:p>
      </dsp:txBody>
      <dsp:txXfrm rot="5400000">
        <a:off x="-10831" y="1"/>
        <a:ext cx="5456272" cy="2088864"/>
      </dsp:txXfrm>
    </dsp:sp>
    <dsp:sp modelId="{8CD87CF0-F166-4D98-91F7-386EEE25F9DB}">
      <dsp:nvSpPr>
        <dsp:cNvPr id="0" name=""/>
        <dsp:cNvSpPr/>
      </dsp:nvSpPr>
      <dsp:spPr>
        <a:xfrm>
          <a:off x="5417014" y="445"/>
          <a:ext cx="5499595" cy="2785153"/>
        </a:xfrm>
        <a:prstGeom prst="round1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r" defTabSz="622300">
            <a:lnSpc>
              <a:spcPct val="90000"/>
            </a:lnSpc>
            <a:spcBef>
              <a:spcPct val="0"/>
            </a:spcBef>
            <a:spcAft>
              <a:spcPct val="35000"/>
            </a:spcAft>
            <a:buNone/>
          </a:pPr>
          <a:r>
            <a:rPr lang="en-ZA" sz="1400" b="1" u="sng" kern="1200"/>
            <a:t>Store &amp; Time Slot Optimization</a:t>
          </a:r>
        </a:p>
        <a:p>
          <a:pPr marL="0" lvl="0" indent="0" algn="r" defTabSz="622300">
            <a:lnSpc>
              <a:spcPct val="90000"/>
            </a:lnSpc>
            <a:spcBef>
              <a:spcPct val="0"/>
            </a:spcBef>
            <a:spcAft>
              <a:spcPct val="35000"/>
            </a:spcAft>
            <a:buNone/>
          </a:pPr>
          <a:r>
            <a:rPr lang="en-US" sz="1200" b="0" u="none" kern="1200"/>
            <a:t>Astoria → Strength in late lunch; expand afternoon promotions.</a:t>
          </a:r>
        </a:p>
        <a:p>
          <a:pPr marL="0" lvl="0" indent="0" algn="r" defTabSz="622300">
            <a:lnSpc>
              <a:spcPct val="90000"/>
            </a:lnSpc>
            <a:spcBef>
              <a:spcPct val="0"/>
            </a:spcBef>
            <a:spcAft>
              <a:spcPct val="35000"/>
            </a:spcAft>
            <a:buNone/>
          </a:pPr>
          <a:r>
            <a:rPr lang="en-US" sz="1200" b="0" u="none" kern="1200"/>
            <a:t>Hell’s Kitchen → Brunch leader; capitalize with brunch combos and loyalty offers.</a:t>
          </a:r>
        </a:p>
        <a:p>
          <a:pPr marL="0" lvl="0" indent="0" algn="r" defTabSz="622300">
            <a:lnSpc>
              <a:spcPct val="90000"/>
            </a:lnSpc>
            <a:spcBef>
              <a:spcPct val="0"/>
            </a:spcBef>
            <a:spcAft>
              <a:spcPct val="35000"/>
            </a:spcAft>
            <a:buNone/>
          </a:pPr>
          <a:r>
            <a:rPr lang="en-US" sz="1200" b="0" u="none" kern="1200"/>
            <a:t>Lower Manhattan → Breakfast stronghold; introduce </a:t>
          </a:r>
          <a:r>
            <a:rPr lang="en-US" sz="1200" b="0" i="1" u="none" kern="1200"/>
            <a:t>Morning bundles </a:t>
          </a:r>
          <a:r>
            <a:rPr lang="en-US" sz="1200" b="0" u="none" kern="1200"/>
            <a:t>for commuters.</a:t>
          </a:r>
        </a:p>
        <a:p>
          <a:pPr marL="0" lvl="0" indent="0" algn="r" defTabSz="622300">
            <a:lnSpc>
              <a:spcPct val="90000"/>
            </a:lnSpc>
            <a:spcBef>
              <a:spcPct val="0"/>
            </a:spcBef>
            <a:spcAft>
              <a:spcPct val="35000"/>
            </a:spcAft>
            <a:buNone/>
          </a:pPr>
          <a:r>
            <a:rPr lang="en-US" sz="1200" b="0" u="none" kern="1200"/>
            <a:t>Boost Lunch Sales: Lunch is consistently the weakest slot. Launch targeted campaigns (discounted lunch combos, loyalty points during 12–3pm).</a:t>
          </a:r>
        </a:p>
        <a:p>
          <a:pPr marL="0" lvl="0" indent="0" algn="r" defTabSz="622300">
            <a:lnSpc>
              <a:spcPct val="90000"/>
            </a:lnSpc>
            <a:spcBef>
              <a:spcPct val="0"/>
            </a:spcBef>
            <a:spcAft>
              <a:spcPct val="35000"/>
            </a:spcAft>
            <a:buNone/>
          </a:pPr>
          <a:r>
            <a:rPr lang="en-US" sz="1200" b="0" u="none" kern="1200"/>
            <a:t>Weekend Engagement: Weekday sales dominate. Create weekend family packages, live events, or </a:t>
          </a:r>
          <a:r>
            <a:rPr lang="en-US" sz="1200" b="0" i="1" u="none" kern="1200"/>
            <a:t>weekend specials </a:t>
          </a:r>
          <a:r>
            <a:rPr lang="en-US" sz="1200" b="0" u="none" kern="1200"/>
            <a:t>to grow weekend traffic.</a:t>
          </a:r>
          <a:endParaRPr lang="en-ZA" sz="1200" b="1" u="sng" kern="1200" dirty="0"/>
        </a:p>
      </dsp:txBody>
      <dsp:txXfrm>
        <a:off x="5417014" y="445"/>
        <a:ext cx="5499595" cy="2088864"/>
      </dsp:txXfrm>
    </dsp:sp>
    <dsp:sp modelId="{6F155422-7544-43AA-A40D-C1EEF886A806}">
      <dsp:nvSpPr>
        <dsp:cNvPr id="0" name=""/>
        <dsp:cNvSpPr/>
      </dsp:nvSpPr>
      <dsp:spPr>
        <a:xfrm rot="10800000">
          <a:off x="-10830" y="2785153"/>
          <a:ext cx="5456272" cy="2785153"/>
        </a:xfrm>
        <a:prstGeom prst="round1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ZA" sz="1400" b="1" u="sng" kern="1200" dirty="0"/>
            <a:t>Operational Excellence</a:t>
          </a:r>
        </a:p>
        <a:p>
          <a:pPr marL="0" lvl="0" indent="0" algn="l" defTabSz="622300">
            <a:lnSpc>
              <a:spcPct val="90000"/>
            </a:lnSpc>
            <a:spcBef>
              <a:spcPct val="0"/>
            </a:spcBef>
            <a:spcAft>
              <a:spcPct val="35000"/>
            </a:spcAft>
            <a:buNone/>
          </a:pPr>
          <a:r>
            <a:rPr lang="en-US" sz="1200" b="1" u="none" kern="1200" dirty="0"/>
            <a:t>Automate Reporting: </a:t>
          </a:r>
          <a:r>
            <a:rPr lang="en-US" sz="1200" b="0" u="none" kern="1200" dirty="0"/>
            <a:t>Implement daily dashboards for store managers to monitor sales by product, time slot, and spend bracket.</a:t>
          </a:r>
        </a:p>
        <a:p>
          <a:pPr marL="0" lvl="0" indent="0" algn="l" defTabSz="622300">
            <a:lnSpc>
              <a:spcPct val="90000"/>
            </a:lnSpc>
            <a:spcBef>
              <a:spcPct val="0"/>
            </a:spcBef>
            <a:spcAft>
              <a:spcPct val="35000"/>
            </a:spcAft>
            <a:buNone/>
          </a:pPr>
          <a:r>
            <a:rPr lang="en-US" sz="1200" b="1" u="none" kern="1200" dirty="0"/>
            <a:t>Inventory Alignment: </a:t>
          </a:r>
          <a:r>
            <a:rPr lang="en-US" sz="1200" b="0" u="none" kern="1200" dirty="0"/>
            <a:t>Stock more of high‑performing items (coffee, tea, chocolate drinks) and reduce waste from low‑performing categories.</a:t>
          </a:r>
        </a:p>
        <a:p>
          <a:pPr marL="0" lvl="0" indent="0" algn="l" defTabSz="622300">
            <a:lnSpc>
              <a:spcPct val="90000"/>
            </a:lnSpc>
            <a:spcBef>
              <a:spcPct val="0"/>
            </a:spcBef>
            <a:spcAft>
              <a:spcPct val="35000"/>
            </a:spcAft>
            <a:buNone/>
          </a:pPr>
          <a:r>
            <a:rPr lang="en-US" sz="1200" b="1" u="none" kern="1200" dirty="0"/>
            <a:t>Scalability: </a:t>
          </a:r>
          <a:r>
            <a:rPr lang="en-US" sz="1200" b="0" u="none" kern="1200" dirty="0"/>
            <a:t>Use insights to prepare for multi‑location expansion, ensuring each store leverages its unique strengths.</a:t>
          </a:r>
          <a:endParaRPr lang="en-ZA" sz="1200" b="0" u="none" kern="1200" dirty="0"/>
        </a:p>
        <a:p>
          <a:pPr marL="0" lvl="0" indent="0" algn="l" defTabSz="622300">
            <a:lnSpc>
              <a:spcPct val="90000"/>
            </a:lnSpc>
            <a:spcBef>
              <a:spcPct val="0"/>
            </a:spcBef>
            <a:spcAft>
              <a:spcPct val="35000"/>
            </a:spcAft>
            <a:buNone/>
          </a:pPr>
          <a:endParaRPr lang="en-ZA" sz="1200" b="0" u="none" kern="1200" dirty="0"/>
        </a:p>
      </dsp:txBody>
      <dsp:txXfrm rot="10800000">
        <a:off x="-10830" y="3481441"/>
        <a:ext cx="5456272" cy="2088864"/>
      </dsp:txXfrm>
    </dsp:sp>
    <dsp:sp modelId="{9F1C5BFC-09C0-47B7-BA23-E8B631E68C26}">
      <dsp:nvSpPr>
        <dsp:cNvPr id="0" name=""/>
        <dsp:cNvSpPr/>
      </dsp:nvSpPr>
      <dsp:spPr>
        <a:xfrm rot="5400000">
          <a:off x="6781001" y="1449593"/>
          <a:ext cx="2785153" cy="5456272"/>
        </a:xfrm>
        <a:prstGeom prst="round1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r" defTabSz="622300">
            <a:lnSpc>
              <a:spcPct val="90000"/>
            </a:lnSpc>
            <a:spcBef>
              <a:spcPct val="0"/>
            </a:spcBef>
            <a:spcAft>
              <a:spcPct val="35000"/>
            </a:spcAft>
            <a:buNone/>
          </a:pPr>
          <a:r>
            <a:rPr lang="en-ZA" sz="1400" b="1" u="sng" kern="1200"/>
            <a:t>Customer Engagement &amp; Marketing</a:t>
          </a:r>
        </a:p>
        <a:p>
          <a:pPr marL="0" lvl="0" indent="0" algn="r" defTabSz="622300">
            <a:lnSpc>
              <a:spcPct val="90000"/>
            </a:lnSpc>
            <a:spcBef>
              <a:spcPct val="0"/>
            </a:spcBef>
            <a:spcAft>
              <a:spcPct val="35000"/>
            </a:spcAft>
            <a:buNone/>
          </a:pPr>
          <a:r>
            <a:rPr lang="en-US" sz="1200" b="1" u="none" kern="1200"/>
            <a:t>Loyalty Programs: </a:t>
          </a:r>
          <a:r>
            <a:rPr lang="en-US" sz="1200" b="0" u="none" kern="1200"/>
            <a:t>Reward frequent buyers, especially during off‑peak slots (e.g., double points at lunch).</a:t>
          </a:r>
        </a:p>
        <a:p>
          <a:pPr marL="0" lvl="0" indent="0" algn="r" defTabSz="622300">
            <a:lnSpc>
              <a:spcPct val="90000"/>
            </a:lnSpc>
            <a:spcBef>
              <a:spcPct val="0"/>
            </a:spcBef>
            <a:spcAft>
              <a:spcPct val="35000"/>
            </a:spcAft>
            <a:buNone/>
          </a:pPr>
          <a:r>
            <a:rPr lang="en-US" sz="1200" b="1" u="none" kern="1200"/>
            <a:t>Data‑Driven Promotions: </a:t>
          </a:r>
          <a:r>
            <a:rPr lang="en-US" sz="1200" b="0" u="none" kern="1200"/>
            <a:t>Use transactional insights to personalize offers (e.g., tea lovers get tea promotions, coffee loyalists get bundle deals).</a:t>
          </a:r>
        </a:p>
        <a:p>
          <a:pPr marL="0" lvl="0" indent="0" algn="r" defTabSz="622300">
            <a:lnSpc>
              <a:spcPct val="90000"/>
            </a:lnSpc>
            <a:spcBef>
              <a:spcPct val="0"/>
            </a:spcBef>
            <a:spcAft>
              <a:spcPct val="35000"/>
            </a:spcAft>
            <a:buNone/>
          </a:pPr>
          <a:r>
            <a:rPr lang="en-US" sz="1200" b="1" u="none" kern="1200"/>
            <a:t>Community Building: </a:t>
          </a:r>
          <a:r>
            <a:rPr lang="en-US" sz="1200" b="0" u="none" kern="1200"/>
            <a:t>Position Bright Coffee Shop as a lifestyle brand — host coffee tastings, tea workshops, or chocolate pairing events.</a:t>
          </a:r>
          <a:endParaRPr lang="en-ZA" sz="1200" b="0" u="none" kern="1200" dirty="0"/>
        </a:p>
      </dsp:txBody>
      <dsp:txXfrm rot="-5400000">
        <a:off x="5445441" y="3481441"/>
        <a:ext cx="5456272" cy="2088864"/>
      </dsp:txXfrm>
    </dsp:sp>
    <dsp:sp modelId="{40B543E4-C4D1-406A-95D1-E9663EC782E4}">
      <dsp:nvSpPr>
        <dsp:cNvPr id="0" name=""/>
        <dsp:cNvSpPr/>
      </dsp:nvSpPr>
      <dsp:spPr>
        <a:xfrm>
          <a:off x="3690830" y="1739042"/>
          <a:ext cx="3530884" cy="2092220"/>
        </a:xfrm>
        <a:prstGeom prst="roundRect">
          <a:avLst/>
        </a:prstGeom>
        <a:gradFill rotWithShape="0">
          <a:gsLst>
            <a:gs pos="0">
              <a:schemeClr val="accent1">
                <a:tint val="60000"/>
                <a:hueOff val="0"/>
                <a:satOff val="0"/>
                <a:lumOff val="0"/>
                <a:alphaOff val="0"/>
                <a:tint val="100000"/>
                <a:shade val="85000"/>
                <a:satMod val="100000"/>
                <a:lumMod val="100000"/>
              </a:schemeClr>
            </a:gs>
            <a:gs pos="100000">
              <a:schemeClr val="accent1">
                <a:tint val="60000"/>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ZA" sz="1400" b="1" u="sng" kern="1200"/>
            <a:t>REVENUE GROWTH</a:t>
          </a:r>
        </a:p>
        <a:p>
          <a:pPr marL="0" lvl="0" indent="0" algn="ctr" defTabSz="622300">
            <a:lnSpc>
              <a:spcPct val="90000"/>
            </a:lnSpc>
            <a:spcBef>
              <a:spcPct val="0"/>
            </a:spcBef>
            <a:spcAft>
              <a:spcPct val="35000"/>
            </a:spcAft>
            <a:buNone/>
          </a:pPr>
          <a:r>
            <a:rPr lang="en-US" sz="1200" b="0" u="none" kern="1200"/>
            <a:t>Large drinks consistently outperform regular sizes in revenue. Train staff to promote upgrades.</a:t>
          </a:r>
        </a:p>
        <a:p>
          <a:pPr marL="0" lvl="0" indent="0" algn="ctr" defTabSz="622300">
            <a:lnSpc>
              <a:spcPct val="90000"/>
            </a:lnSpc>
            <a:spcBef>
              <a:spcPct val="0"/>
            </a:spcBef>
            <a:spcAft>
              <a:spcPct val="35000"/>
            </a:spcAft>
            <a:buNone/>
          </a:pPr>
          <a:r>
            <a:rPr lang="en-US" sz="1200" b="0" u="none" kern="1200"/>
            <a:t>Specialty items (e.g., Civet Cat beans, Jamaican blends, organic chocolates) show strong demand. Position them as “signature experiences” with premium pricing.</a:t>
          </a:r>
        </a:p>
        <a:p>
          <a:pPr marL="0" lvl="0" indent="0" algn="ctr" defTabSz="622300">
            <a:lnSpc>
              <a:spcPct val="90000"/>
            </a:lnSpc>
            <a:spcBef>
              <a:spcPct val="0"/>
            </a:spcBef>
            <a:spcAft>
              <a:spcPct val="35000"/>
            </a:spcAft>
            <a:buNone/>
          </a:pPr>
          <a:r>
            <a:rPr lang="en-US" sz="1200" b="0" u="none" kern="1200"/>
            <a:t>Chocolate Croissant is the only bakery item in the top 30 but performs well. Introduce more premium pastries to capture cross‑sell opportunities.</a:t>
          </a:r>
          <a:endParaRPr lang="en-ZA" sz="1200" b="0" u="none" kern="1200" dirty="0"/>
        </a:p>
      </dsp:txBody>
      <dsp:txXfrm>
        <a:off x="3792964" y="1841176"/>
        <a:ext cx="3326616" cy="1887952"/>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290E50-D3EA-4329-AA5F-AF5A5C575D8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6112D18-5CEB-46F3-924F-E35464AAA3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35D1AD-E24C-4E82-BC85-28527A42DCE7}" type="datetimeFigureOut">
              <a:rPr lang="en-US" smtClean="0"/>
              <a:t>3/30/2026</a:t>
            </a:fld>
            <a:endParaRPr lang="en-US" dirty="0"/>
          </a:p>
        </p:txBody>
      </p:sp>
      <p:sp>
        <p:nvSpPr>
          <p:cNvPr id="4" name="Footer Placeholder 3">
            <a:extLst>
              <a:ext uri="{FF2B5EF4-FFF2-40B4-BE49-F238E27FC236}">
                <a16:creationId xmlns:a16="http://schemas.microsoft.com/office/drawing/2014/main" id="{EB8FC0ED-2712-4B69-9F16-123F02DBF5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2CBD00C-2269-4424-828A-8D893B5226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0B3793-D85E-4082-925C-FAA1A2B27276}" type="slidenum">
              <a:rPr lang="en-US" smtClean="0"/>
              <a:t>‹#›</a:t>
            </a:fld>
            <a:endParaRPr lang="en-US" dirty="0"/>
          </a:p>
        </p:txBody>
      </p:sp>
    </p:spTree>
    <p:extLst>
      <p:ext uri="{BB962C8B-B14F-4D97-AF65-F5344CB8AC3E}">
        <p14:creationId xmlns:p14="http://schemas.microsoft.com/office/powerpoint/2010/main" val="22338639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5EA34-3951-4B6D-8DDD-B157CE00471C}" type="datetimeFigureOut">
              <a:rPr lang="en-US" smtClean="0"/>
              <a:t>3/30/2026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B3E965-974B-498D-B360-83DD1F9DEB55}" type="slidenum">
              <a:rPr lang="en-US" smtClean="0"/>
              <a:t>‹#›</a:t>
            </a:fld>
            <a:endParaRPr lang="en-US" dirty="0"/>
          </a:p>
        </p:txBody>
      </p:sp>
    </p:spTree>
    <p:extLst>
      <p:ext uri="{BB962C8B-B14F-4D97-AF65-F5344CB8AC3E}">
        <p14:creationId xmlns:p14="http://schemas.microsoft.com/office/powerpoint/2010/main" val="23836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1</a:t>
            </a:fld>
            <a:endParaRPr lang="en-US" dirty="0"/>
          </a:p>
        </p:txBody>
      </p:sp>
    </p:spTree>
    <p:extLst>
      <p:ext uri="{BB962C8B-B14F-4D97-AF65-F5344CB8AC3E}">
        <p14:creationId xmlns:p14="http://schemas.microsoft.com/office/powerpoint/2010/main" val="2289652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3</a:t>
            </a:fld>
            <a:endParaRPr lang="en-US" dirty="0"/>
          </a:p>
        </p:txBody>
      </p:sp>
    </p:spTree>
    <p:extLst>
      <p:ext uri="{BB962C8B-B14F-4D97-AF65-F5344CB8AC3E}">
        <p14:creationId xmlns:p14="http://schemas.microsoft.com/office/powerpoint/2010/main" val="2389412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4</a:t>
            </a:fld>
            <a:endParaRPr lang="en-US" dirty="0"/>
          </a:p>
        </p:txBody>
      </p:sp>
    </p:spTree>
    <p:extLst>
      <p:ext uri="{BB962C8B-B14F-4D97-AF65-F5344CB8AC3E}">
        <p14:creationId xmlns:p14="http://schemas.microsoft.com/office/powerpoint/2010/main" val="3664658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35DA6-6324-0D1F-0603-4BB093563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FC28D-2A31-1E10-9D8C-A7FCA5E3F5EE}"/>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4D90E5EF-EC37-79AE-CB35-698F1B96C8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4BBD94-312D-9973-DB05-C4A26813FF07}"/>
              </a:ext>
            </a:extLst>
          </p:cNvPr>
          <p:cNvSpPr>
            <a:spLocks noGrp="1"/>
          </p:cNvSpPr>
          <p:nvPr>
            <p:ph type="sldNum" sz="quarter" idx="5"/>
          </p:nvPr>
        </p:nvSpPr>
        <p:spPr/>
        <p:txBody>
          <a:bodyPr/>
          <a:lstStyle/>
          <a:p>
            <a:fld id="{4AB3E965-974B-498D-B360-83DD1F9DEB55}" type="slidenum">
              <a:rPr lang="en-US" smtClean="0"/>
              <a:t>7</a:t>
            </a:fld>
            <a:endParaRPr lang="en-US" dirty="0"/>
          </a:p>
        </p:txBody>
      </p:sp>
    </p:spTree>
    <p:extLst>
      <p:ext uri="{BB962C8B-B14F-4D97-AF65-F5344CB8AC3E}">
        <p14:creationId xmlns:p14="http://schemas.microsoft.com/office/powerpoint/2010/main" val="782442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92C47-1712-7D48-D9C8-FEAF5CA762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C086D-E204-01FF-E007-8A1146BE3283}"/>
              </a:ext>
            </a:extLst>
          </p:cNvPr>
          <p:cNvSpPr>
            <a:spLocks noGrp="1" noRot="1" noChangeAspect="1"/>
          </p:cNvSpPr>
          <p:nvPr>
            <p:ph type="sldImg"/>
          </p:nvPr>
        </p:nvSpPr>
        <p:spPr/>
        <p:txBody>
          <a:bodyPr/>
          <a:lstStyle/>
          <a:p>
            <a:endParaRPr lang="en-ZA"/>
          </a:p>
        </p:txBody>
      </p:sp>
      <p:sp>
        <p:nvSpPr>
          <p:cNvPr id="3" name="Notes Placeholder 2">
            <a:extLst>
              <a:ext uri="{FF2B5EF4-FFF2-40B4-BE49-F238E27FC236}">
                <a16:creationId xmlns:a16="http://schemas.microsoft.com/office/drawing/2014/main" id="{0189DE9B-D5CF-CEA7-E90E-0027AC2E21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9FDBEF-1505-8C08-8C99-42B0FCAFCCDF}"/>
              </a:ext>
            </a:extLst>
          </p:cNvPr>
          <p:cNvSpPr>
            <a:spLocks noGrp="1"/>
          </p:cNvSpPr>
          <p:nvPr>
            <p:ph type="sldNum" sz="quarter" idx="5"/>
          </p:nvPr>
        </p:nvSpPr>
        <p:spPr/>
        <p:txBody>
          <a:bodyPr/>
          <a:lstStyle/>
          <a:p>
            <a:fld id="{4AB3E965-974B-498D-B360-83DD1F9DEB55}" type="slidenum">
              <a:rPr lang="en-US" smtClean="0"/>
              <a:t>10</a:t>
            </a:fld>
            <a:endParaRPr lang="en-US" dirty="0"/>
          </a:p>
        </p:txBody>
      </p:sp>
    </p:spTree>
    <p:extLst>
      <p:ext uri="{BB962C8B-B14F-4D97-AF65-F5344CB8AC3E}">
        <p14:creationId xmlns:p14="http://schemas.microsoft.com/office/powerpoint/2010/main" val="2965468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B3E965-974B-498D-B360-83DD1F9DEB55}" type="slidenum">
              <a:rPr lang="en-US" smtClean="0"/>
              <a:t>13</a:t>
            </a:fld>
            <a:endParaRPr lang="en-US" dirty="0"/>
          </a:p>
        </p:txBody>
      </p:sp>
    </p:spTree>
    <p:extLst>
      <p:ext uri="{BB962C8B-B14F-4D97-AF65-F5344CB8AC3E}">
        <p14:creationId xmlns:p14="http://schemas.microsoft.com/office/powerpoint/2010/main" val="2452642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noProof="0"/>
              <a:t>Click to edit Master title style</a:t>
            </a:r>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a:t>Click to edit Master subtitle style</a:t>
            </a:r>
          </a:p>
        </p:txBody>
      </p:sp>
      <p:sp>
        <p:nvSpPr>
          <p:cNvPr id="4" name="Date Placeholder 3"/>
          <p:cNvSpPr>
            <a:spLocks noGrp="1"/>
          </p:cNvSpPr>
          <p:nvPr>
            <p:ph type="dt" sz="half" idx="10"/>
          </p:nvPr>
        </p:nvSpPr>
        <p:spPr/>
        <p:txBody>
          <a:bodyPr/>
          <a:lstStyle>
            <a:lvl1pPr algn="l">
              <a:defRPr/>
            </a:lvl1pPr>
          </a:lstStyle>
          <a:p>
            <a:fld id="{9AB3A824-1A51-4B26-AD58-A6D8E14F6C04}" type="datetimeFigureOut">
              <a:rPr lang="en-US" noProof="0" smtClean="0"/>
              <a:t>3/30/2026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13" name="Straight Connector 12"/>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Tree>
    <p:extLst>
      <p:ext uri="{BB962C8B-B14F-4D97-AF65-F5344CB8AC3E}">
        <p14:creationId xmlns:p14="http://schemas.microsoft.com/office/powerpoint/2010/main" val="451507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10"/>
          </p:nvPr>
        </p:nvSpPr>
        <p:spPr/>
        <p:txBody>
          <a:bodyPr/>
          <a:lstStyle/>
          <a:p>
            <a:fld id="{97D162C4-EDD9-4389-A98B-B87ECEA2A816}" type="datetimeFigureOut">
              <a:rPr lang="en-US" noProof="0" smtClean="0"/>
              <a:t>3/30/2026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2230645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noProof="0"/>
              <a:t>Click to edit Master title style</a:t>
            </a:r>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noProof="0" smtClean="0"/>
              <a:t>3/30/2026</a:t>
            </a:fld>
            <a:endParaRPr lang="en-US" noProof="0" dirty="0"/>
          </a:p>
        </p:txBody>
      </p:sp>
      <p:sp>
        <p:nvSpPr>
          <p:cNvPr id="5" name="Footer Placeholder 4"/>
          <p:cNvSpPr>
            <a:spLocks noGrp="1"/>
          </p:cNvSpPr>
          <p:nvPr>
            <p:ph type="ftr" sz="quarter" idx="11"/>
          </p:nvPr>
        </p:nvSpPr>
        <p:spPr/>
        <p:txBody>
          <a:bodyPr/>
          <a:lstStyle/>
          <a:p>
            <a:r>
              <a:rPr lang="en-US" noProof="0" dirty="0"/>
              <a:t>
              </a:t>
            </a:r>
          </a:p>
        </p:txBody>
      </p:sp>
      <p:sp>
        <p:nvSpPr>
          <p:cNvPr id="6" name="Slide Number Placeholder 5"/>
          <p:cNvSpPr>
            <a:spLocks noGrp="1"/>
          </p:cNvSpPr>
          <p:nvPr>
            <p:ph type="sldNum" sz="quarter" idx="12"/>
          </p:nvPr>
        </p:nvSpPr>
        <p:spPr/>
        <p:txBody>
          <a:bodyPr/>
          <a:lstStyle/>
          <a:p>
            <a:fld id="{6D22F896-40B5-4ADD-8801-0D06FADFA095}" type="slidenum">
              <a:rPr lang="en-US" noProof="0" smtClean="0"/>
              <a:t>‹#›</a:t>
            </a:fld>
            <a:endParaRPr lang="en-US" noProof="0"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Tree>
    <p:extLst>
      <p:ext uri="{BB962C8B-B14F-4D97-AF65-F5344CB8AC3E}">
        <p14:creationId xmlns:p14="http://schemas.microsoft.com/office/powerpoint/2010/main" val="217646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noProof="0"/>
              <a:t>Click to edit Master title style</a:t>
            </a:r>
          </a:p>
        </p:txBody>
      </p:sp>
      <p:sp>
        <p:nvSpPr>
          <p:cNvPr id="3" name="Content Placeholder 2"/>
          <p:cNvSpPr>
            <a:spLocks noGrp="1"/>
          </p:cNvSpPr>
          <p:nvPr>
            <p:ph sz="half" idx="1"/>
          </p:nvPr>
        </p:nvSpPr>
        <p:spPr>
          <a:xfrm>
            <a:off x="1024127" y="2286000"/>
            <a:ext cx="4754880" cy="402336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CA954B2F-12DE-47F5-8894-472B206D2E1E}" type="datetimeFigureOut">
              <a:rPr lang="en-US" noProof="0" smtClean="0"/>
              <a:t>3/30/2026</a:t>
            </a:fld>
            <a:endParaRPr lang="en-US" noProof="0" dirty="0"/>
          </a:p>
        </p:txBody>
      </p:sp>
      <p:sp>
        <p:nvSpPr>
          <p:cNvPr id="6" name="Footer Placeholder 5"/>
          <p:cNvSpPr>
            <a:spLocks noGrp="1"/>
          </p:cNvSpPr>
          <p:nvPr>
            <p:ph type="ftr" sz="quarter" idx="11"/>
          </p:nvPr>
        </p:nvSpPr>
        <p:spPr/>
        <p:txBody>
          <a:bodyPr/>
          <a:lstStyle/>
          <a:p>
            <a:r>
              <a:rPr lang="en-US" noProof="0" dirty="0"/>
              <a:t>
              </a:t>
            </a:r>
          </a:p>
        </p:txBody>
      </p:sp>
      <p:sp>
        <p:nvSpPr>
          <p:cNvPr id="7" name="Slide Number Placeholder 6"/>
          <p:cNvSpPr>
            <a:spLocks noGrp="1"/>
          </p:cNvSpPr>
          <p:nvPr>
            <p:ph type="sldNum" sz="quarter" idx="12"/>
          </p:nvPr>
        </p:nvSpPr>
        <p:spPr/>
        <p:txBody>
          <a:bodyPr/>
          <a:lstStyle/>
          <a:p>
            <a:fld id="{6D22F896-40B5-4ADD-8801-0D06FADFA095}" type="slidenum">
              <a:rPr lang="en-US" noProof="0" smtClean="0"/>
              <a:t>‹#›</a:t>
            </a:fld>
            <a:endParaRPr lang="en-US" noProof="0" dirty="0"/>
          </a:p>
        </p:txBody>
      </p:sp>
    </p:spTree>
    <p:extLst>
      <p:ext uri="{BB962C8B-B14F-4D97-AF65-F5344CB8AC3E}">
        <p14:creationId xmlns:p14="http://schemas.microsoft.com/office/powerpoint/2010/main" val="3279582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3/30/2026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5863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3/30/2026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89618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3/30/2026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396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3/30/2026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33651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3/30/2026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804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3/30/2026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7278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3/30/2026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959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CBC1C18-307B-4F68-A007-B5B542270E8D}" type="datetimeFigureOut">
              <a:rPr lang="en-US" noProof="0" smtClean="0"/>
              <a:t>3/30/2026</a:t>
            </a:fld>
            <a:endParaRPr lang="en-US" noProof="0"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noProof="0" dirty="0"/>
              <a:t>
              </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D22F896-40B5-4ADD-8801-0D06FADFA095}" type="slidenum">
              <a:rPr lang="en-US" noProof="0" smtClean="0"/>
              <a:pPr/>
              <a:t>‹#›</a:t>
            </a:fld>
            <a:endParaRPr lang="en-US" noProof="0" dirty="0"/>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02846"/>
      </p:ext>
    </p:extLst>
  </p:cSld>
  <p:clrMap bg1="dk1" tx1="lt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4/relationships/chartEx" Target="../charts/chartEx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Coffee Beans">
            <a:extLst>
              <a:ext uri="{FF2B5EF4-FFF2-40B4-BE49-F238E27FC236}">
                <a16:creationId xmlns:a16="http://schemas.microsoft.com/office/drawing/2014/main" id="{291BDB91-E757-4677-A38C-EB354240C835}"/>
              </a:ext>
            </a:extLst>
          </p:cNvPr>
          <p:cNvPicPr>
            <a:picLocks noChangeAspect="1"/>
          </p:cNvPicPr>
          <p:nvPr/>
        </p:nvPicPr>
        <p:blipFill rotWithShape="1">
          <a:blip r:embed="rId3" cstate="screen">
            <a:alphaModFix amt="45000"/>
            <a:extLst>
              <a:ext uri="{28A0092B-C50C-407E-A947-70E740481C1C}">
                <a14:useLocalDpi xmlns:a14="http://schemas.microsoft.com/office/drawing/2010/main"/>
              </a:ext>
            </a:extLst>
          </a:blip>
          <a:srcRect r="25"/>
          <a:stretch/>
        </p:blipFill>
        <p:spPr>
          <a:xfrm>
            <a:off x="20" y="-1"/>
            <a:ext cx="12188932" cy="6858000"/>
          </a:xfrm>
          <a:prstGeom prst="rect">
            <a:avLst/>
          </a:prstGeom>
        </p:spPr>
      </p:pic>
      <p:sp>
        <p:nvSpPr>
          <p:cNvPr id="2" name="Title 1">
            <a:extLst>
              <a:ext uri="{FF2B5EF4-FFF2-40B4-BE49-F238E27FC236}">
                <a16:creationId xmlns:a16="http://schemas.microsoft.com/office/drawing/2014/main" id="{050E78D6-F072-48E7-8270-20EFBDD26F36}"/>
              </a:ext>
            </a:extLst>
          </p:cNvPr>
          <p:cNvSpPr>
            <a:spLocks noGrp="1"/>
          </p:cNvSpPr>
          <p:nvPr>
            <p:ph type="ctrTitle"/>
          </p:nvPr>
        </p:nvSpPr>
        <p:spPr>
          <a:xfrm>
            <a:off x="643467" y="643467"/>
            <a:ext cx="7164674" cy="5571066"/>
          </a:xfrm>
          <a:prstGeom prst="rect">
            <a:avLst/>
          </a:prstGeom>
        </p:spPr>
        <p:txBody>
          <a:bodyPr lIns="0" rIns="180000">
            <a:normAutofit/>
          </a:bodyPr>
          <a:lstStyle/>
          <a:p>
            <a:br>
              <a:rPr lang="en-US" sz="7200" b="1" dirty="0">
                <a:solidFill>
                  <a:schemeClr val="tx1"/>
                </a:solidFill>
              </a:rPr>
            </a:br>
            <a:r>
              <a:rPr lang="en-US" sz="7200" b="1" dirty="0">
                <a:solidFill>
                  <a:schemeClr val="tx1"/>
                </a:solidFill>
              </a:rPr>
              <a:t>Bright</a:t>
            </a:r>
            <a:br>
              <a:rPr lang="en-US" sz="7200" b="1" dirty="0">
                <a:solidFill>
                  <a:schemeClr val="tx1"/>
                </a:solidFill>
              </a:rPr>
            </a:br>
            <a:r>
              <a:rPr lang="en-US" sz="7200" b="1" dirty="0">
                <a:solidFill>
                  <a:schemeClr val="tx1"/>
                </a:solidFill>
              </a:rPr>
              <a:t>Coffee</a:t>
            </a:r>
            <a:br>
              <a:rPr lang="en-US" sz="7200" b="1" dirty="0">
                <a:solidFill>
                  <a:schemeClr val="tx1"/>
                </a:solidFill>
              </a:rPr>
            </a:br>
            <a:r>
              <a:rPr lang="en-US" sz="7200" b="1" dirty="0">
                <a:solidFill>
                  <a:schemeClr val="tx1"/>
                </a:solidFill>
              </a:rPr>
              <a:t>SHOP </a:t>
            </a:r>
            <a:br>
              <a:rPr lang="en-US" sz="7200" b="1" dirty="0">
                <a:solidFill>
                  <a:schemeClr val="tx1"/>
                </a:solidFill>
              </a:rPr>
            </a:br>
            <a:endParaRPr lang="en-US" sz="7200" b="1" dirty="0">
              <a:solidFill>
                <a:schemeClr val="tx1"/>
              </a:solidFill>
            </a:endParaRPr>
          </a:p>
        </p:txBody>
      </p:sp>
      <p:sp>
        <p:nvSpPr>
          <p:cNvPr id="3" name="Subtitle 2">
            <a:extLst>
              <a:ext uri="{FF2B5EF4-FFF2-40B4-BE49-F238E27FC236}">
                <a16:creationId xmlns:a16="http://schemas.microsoft.com/office/drawing/2014/main" id="{3FC7BD98-5486-489C-BAA0-A69CEFF691B3}"/>
              </a:ext>
            </a:extLst>
          </p:cNvPr>
          <p:cNvSpPr>
            <a:spLocks noGrp="1"/>
          </p:cNvSpPr>
          <p:nvPr>
            <p:ph type="subTitle" idx="1"/>
          </p:nvPr>
        </p:nvSpPr>
        <p:spPr>
          <a:xfrm>
            <a:off x="8451608" y="643467"/>
            <a:ext cx="3096926" cy="4566486"/>
          </a:xfrm>
          <a:prstGeom prst="rect">
            <a:avLst/>
          </a:prstGeom>
        </p:spPr>
        <p:txBody>
          <a:bodyPr lIns="0" rIns="0">
            <a:normAutofit/>
          </a:bodyPr>
          <a:lstStyle/>
          <a:p>
            <a:r>
              <a:rPr lang="en-US" sz="2800" dirty="0">
                <a:solidFill>
                  <a:schemeClr val="tx1"/>
                </a:solidFill>
              </a:rPr>
              <a:t>A Place between Home &amp; Office</a:t>
            </a:r>
          </a:p>
        </p:txBody>
      </p:sp>
      <p:cxnSp>
        <p:nvCxnSpPr>
          <p:cNvPr id="20" name="Straight Connector 19">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405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Espresso machine with ground coffee">
            <a:extLst>
              <a:ext uri="{FF2B5EF4-FFF2-40B4-BE49-F238E27FC236}">
                <a16:creationId xmlns:a16="http://schemas.microsoft.com/office/drawing/2014/main" id="{F86D9615-5258-E9A9-F196-53E1BD924A54}"/>
              </a:ext>
            </a:extLst>
          </p:cNvPr>
          <p:cNvPicPr>
            <a:picLocks noChangeAspect="1"/>
          </p:cNvPicPr>
          <p:nvPr/>
        </p:nvPicPr>
        <p:blipFill>
          <a:blip r:embed="rId2"/>
          <a:srcRect t="23391" r="9091"/>
          <a:stretch>
            <a:fillRect/>
          </a:stretch>
        </p:blipFill>
        <p:spPr>
          <a:xfrm>
            <a:off x="20" y="10"/>
            <a:ext cx="12191980" cy="6857990"/>
          </a:xfrm>
          <a:prstGeom prst="rect">
            <a:avLst/>
          </a:prstGeom>
        </p:spPr>
      </p:pic>
      <p:sp>
        <p:nvSpPr>
          <p:cNvPr id="16" name="Rectangle 15">
            <a:extLst>
              <a:ext uri="{FF2B5EF4-FFF2-40B4-BE49-F238E27FC236}">
                <a16:creationId xmlns:a16="http://schemas.microsoft.com/office/drawing/2014/main" id="{57D175FC-84CC-4D12-A5E2-FA27D934E9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52265" cy="6858000"/>
          </a:xfrm>
          <a:prstGeom prst="rect">
            <a:avLst/>
          </a:prstGeom>
          <a:solidFill>
            <a:srgbClr val="FFFFF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50047CA1-15D5-7B02-AEF2-285EDE97EFD1}"/>
              </a:ext>
            </a:extLst>
          </p:cNvPr>
          <p:cNvSpPr>
            <a:spLocks noGrp="1"/>
          </p:cNvSpPr>
          <p:nvPr>
            <p:ph type="title"/>
          </p:nvPr>
        </p:nvSpPr>
        <p:spPr>
          <a:xfrm>
            <a:off x="1024128" y="585216"/>
            <a:ext cx="6066816" cy="1499616"/>
          </a:xfrm>
        </p:spPr>
        <p:txBody>
          <a:bodyPr>
            <a:normAutofit/>
          </a:bodyPr>
          <a:lstStyle/>
          <a:p>
            <a:r>
              <a:rPr lang="en-ZA" b="1">
                <a:solidFill>
                  <a:srgbClr val="000000"/>
                </a:solidFill>
              </a:rPr>
              <a:t>Problem statement</a:t>
            </a:r>
          </a:p>
        </p:txBody>
      </p:sp>
      <p:cxnSp>
        <p:nvCxnSpPr>
          <p:cNvPr id="18" name="Straight Connector 17">
            <a:extLst>
              <a:ext uri="{FF2B5EF4-FFF2-40B4-BE49-F238E27FC236}">
                <a16:creationId xmlns:a16="http://schemas.microsoft.com/office/drawing/2014/main" id="{8AC38328-2D50-4DDB-BD20-28DE12E4996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13AD189-7F5C-89F3-07ED-3D4456F61E09}"/>
              </a:ext>
            </a:extLst>
          </p:cNvPr>
          <p:cNvSpPr>
            <a:spLocks noGrp="1"/>
          </p:cNvSpPr>
          <p:nvPr>
            <p:ph idx="1"/>
          </p:nvPr>
        </p:nvSpPr>
        <p:spPr>
          <a:xfrm>
            <a:off x="1024128" y="2286000"/>
            <a:ext cx="6066816" cy="4023360"/>
          </a:xfrm>
        </p:spPr>
        <p:txBody>
          <a:bodyPr>
            <a:normAutofit/>
          </a:bodyPr>
          <a:lstStyle/>
          <a:p>
            <a:r>
              <a:rPr lang="en-US" sz="1200" dirty="0">
                <a:solidFill>
                  <a:srgbClr val="000000"/>
                </a:solidFill>
              </a:rPr>
              <a:t>Bright Coffee Shop has experienced steady sales over the past few years, but the leadership team recognizes that growth opportunities remain untapped. With the appointment of a new CEO, the company is entering a pivotal phase where data‑driven decision making will be critical to shaping future strategy.</a:t>
            </a:r>
          </a:p>
          <a:p>
            <a:r>
              <a:rPr lang="en-US" sz="1200" dirty="0">
                <a:solidFill>
                  <a:srgbClr val="000000"/>
                </a:solidFill>
              </a:rPr>
              <a:t>The challenge lies in transforming raw historical transactional data into actionable business insights. While the dataset captures daily sales across products, times of day, and customer behaviors, it has not yet been fully leveraged to answer key strategic questions:</a:t>
            </a:r>
          </a:p>
          <a:p>
            <a:pPr>
              <a:buFont typeface="Wingdings" panose="05000000000000000000" pitchFamily="2" charset="2"/>
              <a:buChar char="q"/>
            </a:pPr>
            <a:r>
              <a:rPr lang="en-US" sz="1200" dirty="0">
                <a:solidFill>
                  <a:srgbClr val="000000"/>
                </a:solidFill>
              </a:rPr>
              <a:t> Which products consistently drive revenue and profitability?</a:t>
            </a:r>
          </a:p>
          <a:p>
            <a:pPr>
              <a:buFont typeface="Wingdings" panose="05000000000000000000" pitchFamily="2" charset="2"/>
              <a:buChar char="q"/>
            </a:pPr>
            <a:r>
              <a:rPr lang="en-US" sz="1200" dirty="0">
                <a:solidFill>
                  <a:srgbClr val="000000"/>
                </a:solidFill>
              </a:rPr>
              <a:t>At what times does the store perform best, and where are the gaps?</a:t>
            </a:r>
          </a:p>
          <a:p>
            <a:pPr>
              <a:buFont typeface="Wingdings" panose="05000000000000000000" pitchFamily="2" charset="2"/>
              <a:buChar char="q"/>
            </a:pPr>
            <a:r>
              <a:rPr lang="en-US" sz="1200" dirty="0">
                <a:solidFill>
                  <a:srgbClr val="000000"/>
                </a:solidFill>
              </a:rPr>
              <a:t> What trends can be identified across different product categories and time intervals?</a:t>
            </a:r>
          </a:p>
          <a:p>
            <a:pPr>
              <a:buFont typeface="Wingdings" panose="05000000000000000000" pitchFamily="2" charset="2"/>
              <a:buChar char="q"/>
            </a:pPr>
            <a:r>
              <a:rPr lang="en-US" sz="1200" dirty="0">
                <a:solidFill>
                  <a:srgbClr val="000000"/>
                </a:solidFill>
              </a:rPr>
              <a:t>How can these insights inform marketing, inventory, and customer engagement strategies?</a:t>
            </a:r>
          </a:p>
          <a:p>
            <a:pPr marL="0" indent="0">
              <a:buNone/>
            </a:pPr>
            <a:endParaRPr lang="en-US" sz="1200" dirty="0">
              <a:solidFill>
                <a:srgbClr val="000000"/>
              </a:solidFill>
            </a:endParaRPr>
          </a:p>
          <a:p>
            <a:r>
              <a:rPr lang="en-US" sz="1200" dirty="0">
                <a:solidFill>
                  <a:srgbClr val="000000"/>
                </a:solidFill>
              </a:rPr>
              <a:t>Without clear visibility into these patterns, the CEO risks making decisions based on intuition rather than evidence. My role as a Junior Data Analyst is to bridge this gap using Miro, </a:t>
            </a:r>
            <a:r>
              <a:rPr lang="en-US" sz="1200">
                <a:solidFill>
                  <a:srgbClr val="000000"/>
                </a:solidFill>
              </a:rPr>
              <a:t>Databricks, SQL, </a:t>
            </a:r>
            <a:r>
              <a:rPr lang="en-US" sz="1200" dirty="0">
                <a:solidFill>
                  <a:srgbClr val="000000"/>
                </a:solidFill>
              </a:rPr>
              <a:t>Excel, and PowerPoint to uncover insights that will guide the CEO in growing revenue, optimizing product performance, and enhancing customer experience.</a:t>
            </a:r>
          </a:p>
          <a:p>
            <a:endParaRPr lang="en-ZA" sz="1200" dirty="0">
              <a:solidFill>
                <a:srgbClr val="000000"/>
              </a:solidFill>
            </a:endParaRPr>
          </a:p>
        </p:txBody>
      </p:sp>
    </p:spTree>
    <p:extLst>
      <p:ext uri="{BB962C8B-B14F-4D97-AF65-F5344CB8AC3E}">
        <p14:creationId xmlns:p14="http://schemas.microsoft.com/office/powerpoint/2010/main" val="4283909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0AE4C84F-7457-4662-AFA3-554A32B9C3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5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9DF9B39E-8A25-4BC3-B3C0-ACD46B94E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457"/>
            <a:ext cx="12188952" cy="22855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B91C57-2090-466E-B05A-DA282135678E}"/>
              </a:ext>
            </a:extLst>
          </p:cNvPr>
          <p:cNvSpPr>
            <a:spLocks noGrp="1"/>
          </p:cNvSpPr>
          <p:nvPr>
            <p:ph type="title"/>
          </p:nvPr>
        </p:nvSpPr>
        <p:spPr>
          <a:xfrm>
            <a:off x="1024128" y="4971088"/>
            <a:ext cx="9720072" cy="1499616"/>
          </a:xfrm>
          <a:prstGeom prst="rect">
            <a:avLst/>
          </a:prstGeom>
        </p:spPr>
        <p:txBody>
          <a:bodyPr vert="horz" lIns="91440" tIns="45720" rIns="91440" bIns="45720" rtlCol="0">
            <a:normAutofit/>
          </a:bodyPr>
          <a:lstStyle/>
          <a:p>
            <a:r>
              <a:rPr lang="en-US" b="1" dirty="0">
                <a:solidFill>
                  <a:srgbClr val="FFFFFF"/>
                </a:solidFill>
              </a:rPr>
              <a:t>Bright Coffee Shop Sales Insights</a:t>
            </a:r>
          </a:p>
        </p:txBody>
      </p:sp>
      <p:cxnSp>
        <p:nvCxnSpPr>
          <p:cNvPr id="70" name="Straight Connector 69">
            <a:extLst>
              <a:ext uri="{FF2B5EF4-FFF2-40B4-BE49-F238E27FC236}">
                <a16:creationId xmlns:a16="http://schemas.microsoft.com/office/drawing/2014/main" id="{BA91CE2E-0B4F-41F3-95F2-0EB7003685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5242273"/>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descr="Icon Bullets">
            <a:extLst>
              <a:ext uri="{FF2B5EF4-FFF2-40B4-BE49-F238E27FC236}">
                <a16:creationId xmlns:a16="http://schemas.microsoft.com/office/drawing/2014/main" id="{ACE5AD74-04D5-49BC-88CF-B67398F8B46C}"/>
              </a:ext>
            </a:extLst>
          </p:cNvPr>
          <p:cNvGraphicFramePr>
            <a:graphicFrameLocks noGrp="1"/>
          </p:cNvGraphicFramePr>
          <p:nvPr>
            <p:ph idx="1"/>
            <p:extLst>
              <p:ext uri="{D42A27DB-BD31-4B8C-83A1-F6EECF244321}">
                <p14:modId xmlns:p14="http://schemas.microsoft.com/office/powerpoint/2010/main" val="2620663110"/>
              </p:ext>
            </p:extLst>
          </p:nvPr>
        </p:nvGraphicFramePr>
        <p:xfrm>
          <a:off x="642938" y="642938"/>
          <a:ext cx="10896600" cy="33551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02586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109556B-EAE9-4435-B409-0519F2CBDB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52267"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9EAA8D-9FA6-44DF-B373-F9F0E09DC750}"/>
              </a:ext>
            </a:extLst>
          </p:cNvPr>
          <p:cNvSpPr>
            <a:spLocks noGrp="1"/>
          </p:cNvSpPr>
          <p:nvPr>
            <p:ph type="title"/>
          </p:nvPr>
        </p:nvSpPr>
        <p:spPr>
          <a:xfrm>
            <a:off x="-2" y="1"/>
            <a:ext cx="7552267" cy="6905846"/>
          </a:xfrm>
        </p:spPr>
        <p:txBody>
          <a:bodyPr>
            <a:normAutofit/>
          </a:bodyPr>
          <a:lstStyle/>
          <a:p>
            <a:r>
              <a:rPr lang="en-US" b="1" dirty="0">
                <a:solidFill>
                  <a:srgbClr val="FFFFFF"/>
                </a:solidFill>
              </a:rPr>
              <a:t>    </a:t>
            </a:r>
            <a:r>
              <a:rPr lang="en-US" sz="7200" b="1" dirty="0">
                <a:solidFill>
                  <a:srgbClr val="FFFFFF"/>
                </a:solidFill>
              </a:rPr>
              <a:t>REVENUE ANALYSIS</a:t>
            </a:r>
            <a:endParaRPr lang="en-US" b="1" dirty="0">
              <a:solidFill>
                <a:srgbClr val="FFFFFF"/>
              </a:solidFill>
            </a:endParaRPr>
          </a:p>
        </p:txBody>
      </p:sp>
      <p:cxnSp>
        <p:nvCxnSpPr>
          <p:cNvPr id="21" name="Straight Connector 20">
            <a:extLst>
              <a:ext uri="{FF2B5EF4-FFF2-40B4-BE49-F238E27FC236}">
                <a16:creationId xmlns:a16="http://schemas.microsoft.com/office/drawing/2014/main" id="{5814CCBE-423E-41B2-A9F3-82679F490E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15" name="Picture 14" descr="Calculator, pen, compass, money and a paper with graphs printed on it">
            <a:extLst>
              <a:ext uri="{FF2B5EF4-FFF2-40B4-BE49-F238E27FC236}">
                <a16:creationId xmlns:a16="http://schemas.microsoft.com/office/drawing/2014/main" id="{B578D591-6ADD-90D6-8E21-4791389F00F0}"/>
              </a:ext>
            </a:extLst>
          </p:cNvPr>
          <p:cNvPicPr>
            <a:picLocks noChangeAspect="1"/>
          </p:cNvPicPr>
          <p:nvPr/>
        </p:nvPicPr>
        <p:blipFill>
          <a:blip r:embed="rId3"/>
          <a:srcRect l="31730" r="27507" b="-1"/>
          <a:stretch>
            <a:fillRect/>
          </a:stretch>
        </p:blipFill>
        <p:spPr>
          <a:xfrm>
            <a:off x="7552266" y="10"/>
            <a:ext cx="4639734" cy="6857990"/>
          </a:xfrm>
          <a:prstGeom prst="rect">
            <a:avLst/>
          </a:prstGeom>
        </p:spPr>
      </p:pic>
    </p:spTree>
    <p:extLst>
      <p:ext uri="{BB962C8B-B14F-4D97-AF65-F5344CB8AC3E}">
        <p14:creationId xmlns:p14="http://schemas.microsoft.com/office/powerpoint/2010/main" val="3357200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32DB959-EB7C-0542-12C2-D4A7184D7620}"/>
              </a:ext>
            </a:extLst>
          </p:cNvPr>
          <p:cNvSpPr>
            <a:spLocks noGrp="1"/>
          </p:cNvSpPr>
          <p:nvPr>
            <p:ph type="title"/>
          </p:nvPr>
        </p:nvSpPr>
        <p:spPr>
          <a:xfrm>
            <a:off x="798512" y="159488"/>
            <a:ext cx="4614736" cy="1031359"/>
          </a:xfrm>
        </p:spPr>
        <p:txBody>
          <a:bodyPr/>
          <a:lstStyle/>
          <a:p>
            <a:r>
              <a:rPr lang="en-ZA" dirty="0"/>
              <a:t>Revenue BY MONTH </a:t>
            </a:r>
          </a:p>
        </p:txBody>
      </p:sp>
      <p:sp>
        <p:nvSpPr>
          <p:cNvPr id="17" name="Text Placeholder 16">
            <a:extLst>
              <a:ext uri="{FF2B5EF4-FFF2-40B4-BE49-F238E27FC236}">
                <a16:creationId xmlns:a16="http://schemas.microsoft.com/office/drawing/2014/main" id="{6E1E2825-9577-474A-1400-F7B42EF1251B}"/>
              </a:ext>
            </a:extLst>
          </p:cNvPr>
          <p:cNvSpPr>
            <a:spLocks noGrp="1"/>
          </p:cNvSpPr>
          <p:nvPr>
            <p:ph type="body" sz="half" idx="2"/>
          </p:nvPr>
        </p:nvSpPr>
        <p:spPr>
          <a:xfrm>
            <a:off x="798512" y="882501"/>
            <a:ext cx="4916488" cy="5725633"/>
          </a:xfrm>
        </p:spPr>
        <p:txBody>
          <a:bodyPr/>
          <a:lstStyle/>
          <a:p>
            <a:pPr marL="285750" indent="-285750">
              <a:buFont typeface="Wingdings" panose="05000000000000000000" pitchFamily="2" charset="2"/>
              <a:buChar char="§"/>
            </a:pPr>
            <a:r>
              <a:rPr lang="en-ZA" dirty="0"/>
              <a:t> </a:t>
            </a:r>
            <a:r>
              <a:rPr lang="en-US" b="1" dirty="0"/>
              <a:t>Consistent Growth</a:t>
            </a:r>
            <a:r>
              <a:rPr lang="en-US" dirty="0"/>
              <a:t>: Monthly revenue showed a steady upward trend from January totaling to R81,677.74  and June totaling to R166,485.88, respectively. </a:t>
            </a:r>
          </a:p>
          <a:p>
            <a:pPr marL="285750" indent="-285750">
              <a:buFont typeface="Wingdings" panose="05000000000000000000" pitchFamily="2" charset="2"/>
              <a:buChar char="§"/>
            </a:pPr>
            <a:r>
              <a:rPr lang="en-US" b="1" dirty="0"/>
              <a:t>Peak Month</a:t>
            </a:r>
            <a:r>
              <a:rPr lang="en-US" dirty="0"/>
              <a:t>: June recorded the highest revenue, nearly doubling January’s performance.</a:t>
            </a:r>
          </a:p>
          <a:p>
            <a:pPr marL="285750" indent="-285750">
              <a:buFont typeface="Wingdings" panose="05000000000000000000" pitchFamily="2" charset="2"/>
              <a:buChar char="§"/>
            </a:pPr>
            <a:r>
              <a:rPr lang="en-US" b="1" dirty="0"/>
              <a:t>Quarterly Comparison</a:t>
            </a:r>
            <a:r>
              <a:rPr lang="en-US" dirty="0"/>
              <a:t>: Quarter 2 (Apr–Jun) outperformed Quarter 1 (Jan–Mar) significantly, with revenue increasing by about 68%.</a:t>
            </a:r>
          </a:p>
          <a:p>
            <a:pPr marL="285750" indent="-285750">
              <a:buFont typeface="Wingdings" panose="05000000000000000000" pitchFamily="2" charset="2"/>
              <a:buChar char="§"/>
            </a:pPr>
            <a:r>
              <a:rPr lang="en-US" b="1" dirty="0"/>
              <a:t>Acceleration Point: </a:t>
            </a:r>
            <a:r>
              <a:rPr lang="en-US" dirty="0"/>
              <a:t>The sharpest jump occurred between March with R98,834.68 and April with R118,941.08 , marking the start of strong growth momentum.</a:t>
            </a:r>
          </a:p>
          <a:p>
            <a:pPr marL="285750" indent="-285750">
              <a:buFont typeface="Wingdings" panose="05000000000000000000" pitchFamily="2" charset="2"/>
              <a:buChar char="§"/>
            </a:pPr>
            <a:r>
              <a:rPr lang="en-US" b="1" dirty="0"/>
              <a:t>Balanced Performance</a:t>
            </a:r>
            <a:r>
              <a:rPr lang="en-US" dirty="0"/>
              <a:t>: Each month’s store revenue streams remain closely aligned, suggesting stable product or store contributions.</a:t>
            </a:r>
          </a:p>
          <a:p>
            <a:pPr marL="285750" indent="-285750">
              <a:buFont typeface="Wingdings" panose="05000000000000000000" pitchFamily="2" charset="2"/>
              <a:buChar char="§"/>
            </a:pPr>
            <a:r>
              <a:rPr lang="en-US" dirty="0"/>
              <a:t>Seasonal factors may be driving higher sales in the second quarter, indicating opportunities to replicate strategies earlier in the year.</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ZA" dirty="0"/>
          </a:p>
        </p:txBody>
      </p:sp>
      <p:graphicFrame>
        <p:nvGraphicFramePr>
          <p:cNvPr id="18" name="Content Placeholder 17">
            <a:extLst>
              <a:ext uri="{FF2B5EF4-FFF2-40B4-BE49-F238E27FC236}">
                <a16:creationId xmlns:a16="http://schemas.microsoft.com/office/drawing/2014/main" id="{654881CB-52A1-1CD0-9539-02BEA6EFD931}"/>
              </a:ext>
            </a:extLst>
          </p:cNvPr>
          <p:cNvGraphicFramePr>
            <a:graphicFrameLocks noGrp="1"/>
          </p:cNvGraphicFramePr>
          <p:nvPr>
            <p:ph idx="1"/>
            <p:extLst>
              <p:ext uri="{D42A27DB-BD31-4B8C-83A1-F6EECF244321}">
                <p14:modId xmlns:p14="http://schemas.microsoft.com/office/powerpoint/2010/main" val="1045669862"/>
              </p:ext>
            </p:extLst>
          </p:nvPr>
        </p:nvGraphicFramePr>
        <p:xfrm>
          <a:off x="5715000" y="345559"/>
          <a:ext cx="6326372" cy="592233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97608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691E9-FEB5-2F50-2471-DBB9361EA963}"/>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0F4FF517-18E3-8DCD-D117-7333F44C5254}"/>
              </a:ext>
            </a:extLst>
          </p:cNvPr>
          <p:cNvSpPr>
            <a:spLocks noGrp="1"/>
          </p:cNvSpPr>
          <p:nvPr>
            <p:ph type="title"/>
          </p:nvPr>
        </p:nvSpPr>
        <p:spPr>
          <a:xfrm>
            <a:off x="798512" y="159490"/>
            <a:ext cx="4799530" cy="1626780"/>
          </a:xfrm>
        </p:spPr>
        <p:txBody>
          <a:bodyPr/>
          <a:lstStyle/>
          <a:p>
            <a:pPr algn="ctr"/>
            <a:br>
              <a:rPr lang="en-US" sz="3200" dirty="0"/>
            </a:br>
            <a:br>
              <a:rPr lang="en-US" sz="3200" dirty="0"/>
            </a:br>
            <a:r>
              <a:rPr lang="en-US" sz="3200" dirty="0"/>
              <a:t>Revenue Contribution by Day Breakdown</a:t>
            </a:r>
            <a:br>
              <a:rPr lang="en-US" dirty="0"/>
            </a:br>
            <a:endParaRPr lang="en-ZA" dirty="0"/>
          </a:p>
        </p:txBody>
      </p:sp>
      <p:sp>
        <p:nvSpPr>
          <p:cNvPr id="17" name="Text Placeholder 16">
            <a:extLst>
              <a:ext uri="{FF2B5EF4-FFF2-40B4-BE49-F238E27FC236}">
                <a16:creationId xmlns:a16="http://schemas.microsoft.com/office/drawing/2014/main" id="{D52F1152-3840-BDE5-67A2-FBAB1723CBA1}"/>
              </a:ext>
            </a:extLst>
          </p:cNvPr>
          <p:cNvSpPr>
            <a:spLocks noGrp="1"/>
          </p:cNvSpPr>
          <p:nvPr>
            <p:ph type="body" sz="half" idx="2"/>
          </p:nvPr>
        </p:nvSpPr>
        <p:spPr>
          <a:xfrm>
            <a:off x="798512" y="1749056"/>
            <a:ext cx="4916488" cy="4859078"/>
          </a:xfrm>
        </p:spPr>
        <p:txBody>
          <a:bodyPr/>
          <a:lstStyle/>
          <a:p>
            <a:pPr marL="285750" indent="-285750">
              <a:buFont typeface="Wingdings" panose="05000000000000000000" pitchFamily="2" charset="2"/>
              <a:buChar char="§"/>
            </a:pPr>
            <a:r>
              <a:rPr lang="en-ZA" dirty="0"/>
              <a:t> </a:t>
            </a:r>
            <a:r>
              <a:rPr lang="en-US" b="1" dirty="0"/>
              <a:t>Brunch dominates</a:t>
            </a:r>
            <a:r>
              <a:rPr lang="en-US" dirty="0"/>
              <a:t>: Brunch (9am–11:59) contributes the largest share of revenue at 31.51%, making it the most profitable time slot.</a:t>
            </a:r>
          </a:p>
          <a:p>
            <a:pPr marL="285750" indent="-285750">
              <a:buFont typeface="Wingdings" panose="05000000000000000000" pitchFamily="2" charset="2"/>
              <a:buChar char="§"/>
            </a:pPr>
            <a:r>
              <a:rPr lang="en-US" b="1" dirty="0"/>
              <a:t>Late Lunch is strong: </a:t>
            </a:r>
            <a:r>
              <a:rPr lang="en-US" dirty="0"/>
              <a:t>The late lunch period (3pm onwards) accounts for 27%, showing sustained customer activity later in the day.</a:t>
            </a:r>
          </a:p>
          <a:p>
            <a:pPr marL="285750" indent="-285750">
              <a:buFont typeface="Wingdings" panose="05000000000000000000" pitchFamily="2" charset="2"/>
              <a:buChar char="§"/>
            </a:pPr>
            <a:r>
              <a:rPr lang="en-US" b="1" dirty="0"/>
              <a:t>Breakfast steady: </a:t>
            </a:r>
            <a:r>
              <a:rPr lang="en-US" dirty="0"/>
              <a:t>Breakfast (7am–8:59) contributes 24.06%, indicating consistent early‑morning demand.</a:t>
            </a:r>
          </a:p>
          <a:p>
            <a:pPr marL="285750" indent="-285750">
              <a:buFont typeface="Wingdings" panose="05000000000000000000" pitchFamily="2" charset="2"/>
              <a:buChar char="§"/>
            </a:pPr>
            <a:r>
              <a:rPr lang="en-US" b="1" dirty="0"/>
              <a:t>Lunch underperforms: </a:t>
            </a:r>
            <a:r>
              <a:rPr lang="en-US" dirty="0"/>
              <a:t>Lunch (12pm–2:59) is the weakest slot at 17.44%, suggesting potential for targeted promotions or menu adjustments.</a:t>
            </a:r>
          </a:p>
          <a:p>
            <a:pPr marL="285750" indent="-285750">
              <a:buFont typeface="Wingdings" panose="05000000000000000000" pitchFamily="2" charset="2"/>
              <a:buChar char="§"/>
            </a:pPr>
            <a:r>
              <a:rPr lang="en-US" b="1" dirty="0"/>
              <a:t>Strategic implication: </a:t>
            </a:r>
            <a:r>
              <a:rPr lang="en-US" dirty="0"/>
              <a:t>Marketing efforts could focus on boosting lunch sales while capitalizing on brunch’s strong performance.</a:t>
            </a:r>
          </a:p>
          <a:p>
            <a:pPr marL="285750" indent="-285750">
              <a:buFont typeface="Wingdings" panose="05000000000000000000" pitchFamily="2" charset="2"/>
              <a:buChar char="§"/>
            </a:pPr>
            <a:endParaRPr lang="en-ZA" dirty="0"/>
          </a:p>
        </p:txBody>
      </p:sp>
      <p:graphicFrame>
        <p:nvGraphicFramePr>
          <p:cNvPr id="4" name="Content Placeholder 3">
            <a:extLst>
              <a:ext uri="{FF2B5EF4-FFF2-40B4-BE49-F238E27FC236}">
                <a16:creationId xmlns:a16="http://schemas.microsoft.com/office/drawing/2014/main" id="{136B27E2-689A-FD7B-ADDD-33A2BD9E2C28}"/>
              </a:ext>
            </a:extLst>
          </p:cNvPr>
          <p:cNvGraphicFramePr>
            <a:graphicFrameLocks noGrp="1"/>
          </p:cNvGraphicFramePr>
          <p:nvPr>
            <p:ph idx="1"/>
            <p:extLst>
              <p:ext uri="{D42A27DB-BD31-4B8C-83A1-F6EECF244321}">
                <p14:modId xmlns:p14="http://schemas.microsoft.com/office/powerpoint/2010/main" val="2286272058"/>
              </p:ext>
            </p:extLst>
          </p:nvPr>
        </p:nvGraphicFramePr>
        <p:xfrm>
          <a:off x="5715000" y="393405"/>
          <a:ext cx="6368902" cy="621472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04889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A89F73-16F8-0A2D-D8A1-CAD2895B1E97}"/>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8899F53B-FB62-B477-5625-F7519DDE92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52267"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1A5E4F-FBB4-F5EB-A2D6-88806211BE40}"/>
              </a:ext>
            </a:extLst>
          </p:cNvPr>
          <p:cNvSpPr>
            <a:spLocks noGrp="1"/>
          </p:cNvSpPr>
          <p:nvPr>
            <p:ph type="title"/>
          </p:nvPr>
        </p:nvSpPr>
        <p:spPr>
          <a:xfrm>
            <a:off x="-2" y="1"/>
            <a:ext cx="7552267" cy="6905846"/>
          </a:xfrm>
        </p:spPr>
        <p:txBody>
          <a:bodyPr>
            <a:normAutofit/>
          </a:bodyPr>
          <a:lstStyle/>
          <a:p>
            <a:r>
              <a:rPr lang="en-US" b="1" dirty="0">
                <a:solidFill>
                  <a:srgbClr val="FFFFFF"/>
                </a:solidFill>
              </a:rPr>
              <a:t>  </a:t>
            </a:r>
            <a:r>
              <a:rPr lang="en-US" sz="6600" b="1" dirty="0">
                <a:solidFill>
                  <a:srgbClr val="FFFFFF"/>
                </a:solidFill>
              </a:rPr>
              <a:t>store Location</a:t>
            </a:r>
            <a:br>
              <a:rPr lang="en-US" sz="6600" b="1" dirty="0">
                <a:solidFill>
                  <a:srgbClr val="FFFFFF"/>
                </a:solidFill>
              </a:rPr>
            </a:br>
            <a:r>
              <a:rPr lang="en-US" sz="6600" b="1" dirty="0">
                <a:solidFill>
                  <a:srgbClr val="FFFFFF"/>
                </a:solidFill>
              </a:rPr>
              <a:t>  ANALYSIS</a:t>
            </a:r>
            <a:endParaRPr lang="en-US" b="1" dirty="0">
              <a:solidFill>
                <a:srgbClr val="FFFFFF"/>
              </a:solidFill>
            </a:endParaRPr>
          </a:p>
        </p:txBody>
      </p:sp>
      <p:cxnSp>
        <p:nvCxnSpPr>
          <p:cNvPr id="21" name="Straight Connector 20">
            <a:extLst>
              <a:ext uri="{FF2B5EF4-FFF2-40B4-BE49-F238E27FC236}">
                <a16:creationId xmlns:a16="http://schemas.microsoft.com/office/drawing/2014/main" id="{F55B95E1-689B-3B8D-8260-E812CD41F1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15" name="Picture 14" descr="Calculator, pen, compass, money and a paper with graphs printed on it">
            <a:extLst>
              <a:ext uri="{FF2B5EF4-FFF2-40B4-BE49-F238E27FC236}">
                <a16:creationId xmlns:a16="http://schemas.microsoft.com/office/drawing/2014/main" id="{28688D35-2196-90F3-8F14-1248EB79B057}"/>
              </a:ext>
            </a:extLst>
          </p:cNvPr>
          <p:cNvPicPr>
            <a:picLocks noChangeAspect="1"/>
          </p:cNvPicPr>
          <p:nvPr/>
        </p:nvPicPr>
        <p:blipFill>
          <a:blip r:embed="rId3"/>
          <a:srcRect l="31730" r="27507" b="-1"/>
          <a:stretch>
            <a:fillRect/>
          </a:stretch>
        </p:blipFill>
        <p:spPr>
          <a:xfrm>
            <a:off x="7552266" y="10"/>
            <a:ext cx="4639734" cy="6857990"/>
          </a:xfrm>
          <a:prstGeom prst="rect">
            <a:avLst/>
          </a:prstGeom>
        </p:spPr>
      </p:pic>
    </p:spTree>
    <p:extLst>
      <p:ext uri="{BB962C8B-B14F-4D97-AF65-F5344CB8AC3E}">
        <p14:creationId xmlns:p14="http://schemas.microsoft.com/office/powerpoint/2010/main" val="460679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5519D-6715-1210-5877-35955EFDAD20}"/>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20EE9B8F-61C7-D808-A54D-4AE00660DF69}"/>
              </a:ext>
            </a:extLst>
          </p:cNvPr>
          <p:cNvSpPr>
            <a:spLocks noGrp="1"/>
          </p:cNvSpPr>
          <p:nvPr>
            <p:ph type="title"/>
          </p:nvPr>
        </p:nvSpPr>
        <p:spPr>
          <a:xfrm>
            <a:off x="798511" y="334926"/>
            <a:ext cx="4709153" cy="1461976"/>
          </a:xfrm>
        </p:spPr>
        <p:txBody>
          <a:bodyPr/>
          <a:lstStyle/>
          <a:p>
            <a:pPr algn="ctr"/>
            <a:r>
              <a:rPr lang="en-ZA" dirty="0"/>
              <a:t>Revenue By sore &amp; Day breakdown</a:t>
            </a:r>
            <a:br>
              <a:rPr lang="en-ZA" dirty="0"/>
            </a:br>
            <a:endParaRPr lang="en-ZA" dirty="0"/>
          </a:p>
        </p:txBody>
      </p:sp>
      <p:sp>
        <p:nvSpPr>
          <p:cNvPr id="17" name="Text Placeholder 16">
            <a:extLst>
              <a:ext uri="{FF2B5EF4-FFF2-40B4-BE49-F238E27FC236}">
                <a16:creationId xmlns:a16="http://schemas.microsoft.com/office/drawing/2014/main" id="{3B2264F5-4039-7151-2AC8-28227E31618A}"/>
              </a:ext>
            </a:extLst>
          </p:cNvPr>
          <p:cNvSpPr>
            <a:spLocks noGrp="1"/>
          </p:cNvSpPr>
          <p:nvPr>
            <p:ph type="body" sz="half" idx="2"/>
          </p:nvPr>
        </p:nvSpPr>
        <p:spPr>
          <a:xfrm>
            <a:off x="798512" y="1584251"/>
            <a:ext cx="4916488" cy="5023883"/>
          </a:xfrm>
        </p:spPr>
        <p:txBody>
          <a:bodyPr>
            <a:normAutofit/>
          </a:bodyPr>
          <a:lstStyle/>
          <a:p>
            <a:pPr marL="285750" indent="-285750">
              <a:buFont typeface="Wingdings" panose="05000000000000000000" pitchFamily="2" charset="2"/>
              <a:buChar char="§"/>
            </a:pPr>
            <a:r>
              <a:rPr lang="en-US" b="1" dirty="0"/>
              <a:t>Balanced Store Performance</a:t>
            </a:r>
            <a:r>
              <a:rPr lang="en-US" dirty="0"/>
              <a:t>: All three locations (Astoria, Hell’s Kitchen, Lower Manhattan) contribute almost equally to total revenue which is approximately R230 000 each.</a:t>
            </a:r>
          </a:p>
          <a:p>
            <a:pPr marL="285750" indent="-285750">
              <a:buFont typeface="Wingdings" panose="05000000000000000000" pitchFamily="2" charset="2"/>
              <a:buChar char="§"/>
            </a:pPr>
            <a:r>
              <a:rPr lang="en-US" b="1" dirty="0"/>
              <a:t>Brunch leads across stores</a:t>
            </a:r>
            <a:r>
              <a:rPr lang="en-US" dirty="0"/>
              <a:t>: Brunch is the strongest time slot overall (R220,162.06), with Hell’s Kitchen contributing the highest brunch revenue (R84,406.64).</a:t>
            </a:r>
            <a:r>
              <a:rPr lang="en-ZA" dirty="0"/>
              <a:t> </a:t>
            </a:r>
            <a:endParaRPr lang="en-US" dirty="0"/>
          </a:p>
          <a:p>
            <a:pPr marL="285750" indent="-285750">
              <a:buFont typeface="Wingdings" panose="05000000000000000000" pitchFamily="2" charset="2"/>
              <a:buChar char="§"/>
            </a:pPr>
            <a:r>
              <a:rPr lang="en-US" b="1" dirty="0"/>
              <a:t>Late Lunch strength in Astoria</a:t>
            </a:r>
            <a:r>
              <a:rPr lang="en-US" dirty="0"/>
              <a:t>: Astoria dominates late lunch sales (R80,497.05), significantly higher than the other two stores.</a:t>
            </a:r>
          </a:p>
          <a:p>
            <a:pPr marL="285750" indent="-285750">
              <a:buFont typeface="Wingdings" panose="05000000000000000000" pitchFamily="2" charset="2"/>
              <a:buChar char="§"/>
            </a:pPr>
            <a:r>
              <a:rPr lang="en-US" b="1" dirty="0"/>
              <a:t>Breakfast preference in Lower Manhattan</a:t>
            </a:r>
            <a:r>
              <a:rPr lang="en-US" dirty="0"/>
              <a:t>: Breakfast revenue is highest in Lower Manhattan (R71,255.25), showing strong early‑morning demand there.</a:t>
            </a:r>
          </a:p>
          <a:p>
            <a:pPr marL="285750" indent="-285750">
              <a:buFont typeface="Wingdings" panose="05000000000000000000" pitchFamily="2" charset="2"/>
              <a:buChar char="§"/>
            </a:pPr>
            <a:r>
              <a:rPr lang="en-US" b="1" dirty="0"/>
              <a:t>Strategic implication</a:t>
            </a:r>
            <a:r>
              <a:rPr lang="en-US" dirty="0"/>
              <a:t>: Each store has a unique strength, Astoria in late lunch, Hell’s Kitchen in brunch, Lower Manhattan in breakfast. That can guide tailored marketing and inventory strategies.</a:t>
            </a:r>
            <a:endParaRPr lang="en-ZA" dirty="0"/>
          </a:p>
        </p:txBody>
      </p:sp>
      <p:graphicFrame>
        <p:nvGraphicFramePr>
          <p:cNvPr id="4" name="Content Placeholder 3">
            <a:extLst>
              <a:ext uri="{FF2B5EF4-FFF2-40B4-BE49-F238E27FC236}">
                <a16:creationId xmlns:a16="http://schemas.microsoft.com/office/drawing/2014/main" id="{A3FD001C-0983-2582-7E57-D5BBF49608C8}"/>
              </a:ext>
            </a:extLst>
          </p:cNvPr>
          <p:cNvGraphicFramePr>
            <a:graphicFrameLocks noGrp="1"/>
          </p:cNvGraphicFramePr>
          <p:nvPr>
            <p:ph idx="1"/>
            <p:extLst>
              <p:ext uri="{D42A27DB-BD31-4B8C-83A1-F6EECF244321}">
                <p14:modId xmlns:p14="http://schemas.microsoft.com/office/powerpoint/2010/main" val="3587206626"/>
              </p:ext>
            </p:extLst>
          </p:nvPr>
        </p:nvGraphicFramePr>
        <p:xfrm>
          <a:off x="5582093" y="1584251"/>
          <a:ext cx="6609907" cy="478465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54949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8317F-BFA5-578F-CC94-2CAFF8017C2C}"/>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E1DB6D85-C306-5CA7-0EFE-AA1265C22DA3}"/>
              </a:ext>
            </a:extLst>
          </p:cNvPr>
          <p:cNvSpPr>
            <a:spLocks noGrp="1"/>
          </p:cNvSpPr>
          <p:nvPr>
            <p:ph type="title"/>
          </p:nvPr>
        </p:nvSpPr>
        <p:spPr>
          <a:xfrm>
            <a:off x="798511" y="0"/>
            <a:ext cx="4916487" cy="1174897"/>
          </a:xfrm>
        </p:spPr>
        <p:txBody>
          <a:bodyPr/>
          <a:lstStyle/>
          <a:p>
            <a:pPr algn="ctr"/>
            <a:br>
              <a:rPr lang="en-US" sz="3200" dirty="0"/>
            </a:br>
            <a:br>
              <a:rPr lang="en-US" sz="3200" dirty="0"/>
            </a:br>
            <a:r>
              <a:rPr lang="en-US" sz="3200" b="1" dirty="0"/>
              <a:t>Quantities sold per product &amp; store location</a:t>
            </a:r>
            <a:br>
              <a:rPr lang="en-US" dirty="0"/>
            </a:br>
            <a:endParaRPr lang="en-ZA" dirty="0"/>
          </a:p>
        </p:txBody>
      </p:sp>
      <p:sp>
        <p:nvSpPr>
          <p:cNvPr id="17" name="Text Placeholder 16">
            <a:extLst>
              <a:ext uri="{FF2B5EF4-FFF2-40B4-BE49-F238E27FC236}">
                <a16:creationId xmlns:a16="http://schemas.microsoft.com/office/drawing/2014/main" id="{1FF31EAB-292F-DD82-6809-AA7C6E2C70EF}"/>
              </a:ext>
            </a:extLst>
          </p:cNvPr>
          <p:cNvSpPr>
            <a:spLocks noGrp="1"/>
          </p:cNvSpPr>
          <p:nvPr>
            <p:ph type="body" sz="half" idx="2"/>
          </p:nvPr>
        </p:nvSpPr>
        <p:spPr>
          <a:xfrm>
            <a:off x="798511" y="1174897"/>
            <a:ext cx="5097241" cy="5534247"/>
          </a:xfrm>
        </p:spPr>
        <p:txBody>
          <a:bodyPr/>
          <a:lstStyle/>
          <a:p>
            <a:pPr marL="285750" indent="-285750">
              <a:buFont typeface="Wingdings" panose="05000000000000000000" pitchFamily="2" charset="2"/>
              <a:buChar char="§"/>
            </a:pPr>
            <a:r>
              <a:rPr lang="en-US" sz="1400" b="1" dirty="0"/>
              <a:t>Coffee dominates</a:t>
            </a:r>
            <a:r>
              <a:rPr lang="en-US" sz="1400" dirty="0"/>
              <a:t>: Coffee is the single largest product category, with 42,142 units sold, showing it as the core revenue driver.</a:t>
            </a:r>
          </a:p>
          <a:p>
            <a:pPr marL="285750" indent="-285750">
              <a:buFont typeface="Wingdings" panose="05000000000000000000" pitchFamily="2" charset="2"/>
              <a:buChar char="§"/>
            </a:pPr>
            <a:r>
              <a:rPr lang="en-US" sz="1400" b="1" dirty="0"/>
              <a:t>Tea strong second: </a:t>
            </a:r>
            <a:r>
              <a:rPr lang="en-US" sz="1400" dirty="0"/>
              <a:t>Tea follows closely with 32,808 units sold, confirming strong demand for hot beverages beyond coffee.</a:t>
            </a:r>
          </a:p>
          <a:p>
            <a:pPr marL="285750" indent="-285750">
              <a:buFont typeface="Wingdings" panose="05000000000000000000" pitchFamily="2" charset="2"/>
              <a:buChar char="§"/>
            </a:pPr>
            <a:r>
              <a:rPr lang="en-US" sz="1400" b="1" dirty="0"/>
              <a:t>Bakery steady: </a:t>
            </a:r>
            <a:r>
              <a:rPr lang="en-US" sz="1400" dirty="0"/>
              <a:t>Bakery items contribute 22,796 units (weekday + weekend), making them a consistent complementary category.</a:t>
            </a:r>
          </a:p>
          <a:p>
            <a:pPr marL="285750" indent="-285750">
              <a:buFont typeface="Wingdings" panose="05000000000000000000" pitchFamily="2" charset="2"/>
              <a:buChar char="§"/>
            </a:pPr>
            <a:r>
              <a:rPr lang="en-US" sz="1400" b="1" dirty="0"/>
              <a:t> Drinking Chocolate niche: </a:t>
            </a:r>
            <a:r>
              <a:rPr lang="en-US" sz="1400" dirty="0"/>
              <a:t>Drinking chocolate accounts for 11,468 units, smaller but still notable, especially on weekdays.</a:t>
            </a:r>
          </a:p>
          <a:p>
            <a:pPr marL="285750" indent="-285750">
              <a:buFont typeface="Wingdings" panose="05000000000000000000" pitchFamily="2" charset="2"/>
              <a:buChar char="§"/>
            </a:pPr>
            <a:r>
              <a:rPr lang="en-US" sz="1400" b="1" dirty="0"/>
              <a:t>Branded &amp; packaged items low: </a:t>
            </a:r>
            <a:r>
              <a:rPr lang="en-US" sz="1400" dirty="0"/>
              <a:t>Branded products (747 units) and packaged chocolate (487 units) are minimal, suggesting limited traction in retail merchandise.</a:t>
            </a:r>
          </a:p>
          <a:p>
            <a:pPr marL="285750" indent="-285750">
              <a:buFont typeface="Wingdings" panose="05000000000000000000" pitchFamily="2" charset="2"/>
              <a:buChar char="§"/>
            </a:pPr>
            <a:r>
              <a:rPr lang="en-US" sz="1400" b="1" dirty="0"/>
              <a:t>Weekday vs Weekend: </a:t>
            </a:r>
            <a:r>
              <a:rPr lang="en-US" sz="1400" dirty="0"/>
              <a:t>Weekday sales (107,510) far exceed weekend sales (41,606), highlighting weekday traffic as the main driver.</a:t>
            </a:r>
          </a:p>
          <a:p>
            <a:pPr marL="285750" indent="-285750">
              <a:buFont typeface="Wingdings" panose="05000000000000000000" pitchFamily="2" charset="2"/>
              <a:buChar char="§"/>
            </a:pPr>
            <a:r>
              <a:rPr lang="en-US" b="1" dirty="0"/>
              <a:t>Store strengths:</a:t>
            </a:r>
          </a:p>
          <a:p>
            <a:pPr marL="742950" lvl="1" indent="-285750">
              <a:buFont typeface="Wingdings" panose="05000000000000000000" pitchFamily="2" charset="2"/>
              <a:buChar char="§"/>
            </a:pPr>
            <a:r>
              <a:rPr lang="en-US" sz="1050" b="1" dirty="0"/>
              <a:t>Astoria leads in Late Lunch and Coffee sales.</a:t>
            </a:r>
          </a:p>
          <a:p>
            <a:pPr marL="742950" lvl="1" indent="-285750">
              <a:buFont typeface="Wingdings" panose="05000000000000000000" pitchFamily="2" charset="2"/>
              <a:buChar char="§"/>
            </a:pPr>
            <a:r>
              <a:rPr lang="en-US" sz="1050" b="1" dirty="0"/>
              <a:t>Hell’s Kitchen performs best in Brunch and Flavours.</a:t>
            </a:r>
          </a:p>
          <a:p>
            <a:pPr marL="742950" lvl="1" indent="-285750">
              <a:buFont typeface="Wingdings" panose="05000000000000000000" pitchFamily="2" charset="2"/>
              <a:buChar char="§"/>
            </a:pPr>
            <a:r>
              <a:rPr lang="en-US" sz="1050" b="1" dirty="0"/>
              <a:t>Lower Manhattan dominates Breakfast and Bakery sales.</a:t>
            </a:r>
          </a:p>
          <a:p>
            <a:pPr marL="285750" indent="-285750">
              <a:buFont typeface="Wingdings" panose="05000000000000000000" pitchFamily="2" charset="2"/>
              <a:buChar char="§"/>
            </a:pPr>
            <a:endParaRPr lang="en-ZA" dirty="0"/>
          </a:p>
        </p:txBody>
      </p:sp>
      <p:graphicFrame>
        <p:nvGraphicFramePr>
          <p:cNvPr id="5" name="Content Placeholder 4">
            <a:extLst>
              <a:ext uri="{FF2B5EF4-FFF2-40B4-BE49-F238E27FC236}">
                <a16:creationId xmlns:a16="http://schemas.microsoft.com/office/drawing/2014/main" id="{4E49538E-B884-5EDD-DEC3-BB1288D21223}"/>
              </a:ext>
            </a:extLst>
          </p:cNvPr>
          <p:cNvGraphicFramePr>
            <a:graphicFrameLocks noGrp="1"/>
          </p:cNvGraphicFramePr>
          <p:nvPr>
            <p:ph idx="1"/>
            <p:extLst>
              <p:ext uri="{D42A27DB-BD31-4B8C-83A1-F6EECF244321}">
                <p14:modId xmlns:p14="http://schemas.microsoft.com/office/powerpoint/2010/main" val="1957795207"/>
              </p:ext>
            </p:extLst>
          </p:nvPr>
        </p:nvGraphicFramePr>
        <p:xfrm>
          <a:off x="5986131" y="1174897"/>
          <a:ext cx="6108404" cy="5433244"/>
        </p:xfrm>
        <a:graphic>
          <a:graphicData uri="http://schemas.openxmlformats.org/drawingml/2006/table">
            <a:tbl>
              <a:tblPr>
                <a:tableStyleId>{5C22544A-7EE6-4342-B048-85BDC9FD1C3A}</a:tableStyleId>
              </a:tblPr>
              <a:tblGrid>
                <a:gridCol w="1301289">
                  <a:extLst>
                    <a:ext uri="{9D8B030D-6E8A-4147-A177-3AD203B41FA5}">
                      <a16:colId xmlns:a16="http://schemas.microsoft.com/office/drawing/2014/main" val="924991618"/>
                    </a:ext>
                  </a:extLst>
                </a:gridCol>
                <a:gridCol w="1270671">
                  <a:extLst>
                    <a:ext uri="{9D8B030D-6E8A-4147-A177-3AD203B41FA5}">
                      <a16:colId xmlns:a16="http://schemas.microsoft.com/office/drawing/2014/main" val="3532789318"/>
                    </a:ext>
                  </a:extLst>
                </a:gridCol>
                <a:gridCol w="1010413">
                  <a:extLst>
                    <a:ext uri="{9D8B030D-6E8A-4147-A177-3AD203B41FA5}">
                      <a16:colId xmlns:a16="http://schemas.microsoft.com/office/drawing/2014/main" val="2045249707"/>
                    </a:ext>
                  </a:extLst>
                </a:gridCol>
                <a:gridCol w="1393144">
                  <a:extLst>
                    <a:ext uri="{9D8B030D-6E8A-4147-A177-3AD203B41FA5}">
                      <a16:colId xmlns:a16="http://schemas.microsoft.com/office/drawing/2014/main" val="1340950485"/>
                    </a:ext>
                  </a:extLst>
                </a:gridCol>
                <a:gridCol w="1132887">
                  <a:extLst>
                    <a:ext uri="{9D8B030D-6E8A-4147-A177-3AD203B41FA5}">
                      <a16:colId xmlns:a16="http://schemas.microsoft.com/office/drawing/2014/main" val="4118909761"/>
                    </a:ext>
                  </a:extLst>
                </a:gridCol>
              </a:tblGrid>
              <a:tr h="398208">
                <a:tc>
                  <a:txBody>
                    <a:bodyPr/>
                    <a:lstStyle/>
                    <a:p>
                      <a:pPr algn="l" fontAlgn="b">
                        <a:buNone/>
                      </a:pPr>
                      <a:r>
                        <a:rPr lang="en-US" sz="1100" u="none" strike="noStrike">
                          <a:effectLst/>
                        </a:rPr>
                        <a:t>Sum of Number_of_sales</a:t>
                      </a:r>
                      <a:endParaRPr lang="en-US"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ZA" sz="1100" u="none" strike="noStrike">
                          <a:effectLst/>
                        </a:rPr>
                        <a:t>Column Labels</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ZA" sz="1100" u="none" strike="noStrike">
                          <a:effectLst/>
                        </a:rPr>
                        <a:t> </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ZA" sz="1100" u="none" strike="noStrike">
                          <a:effectLst/>
                        </a:rPr>
                        <a:t> </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ZA" sz="1100" u="none" strike="noStrike">
                          <a:effectLst/>
                        </a:rPr>
                        <a:t> </a:t>
                      </a:r>
                      <a:endParaRPr lang="en-ZA" sz="1100" b="1"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364468750"/>
                  </a:ext>
                </a:extLst>
              </a:tr>
              <a:tr h="211931">
                <a:tc>
                  <a:txBody>
                    <a:bodyPr/>
                    <a:lstStyle/>
                    <a:p>
                      <a:pPr algn="l" fontAlgn="b">
                        <a:buNone/>
                      </a:pPr>
                      <a:r>
                        <a:rPr lang="en-ZA" sz="1100" u="none" strike="noStrike">
                          <a:effectLst/>
                        </a:rPr>
                        <a:t>Row Labels</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ZA" sz="1100" u="none" strike="noStrike">
                          <a:effectLst/>
                        </a:rPr>
                        <a:t>Astoria</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ZA" sz="1100" u="none" strike="noStrike">
                          <a:effectLst/>
                        </a:rPr>
                        <a:t>Hell's Kitchen</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ZA" sz="1100" u="none" strike="noStrike">
                          <a:effectLst/>
                        </a:rPr>
                        <a:t>Lower Manhattan</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l" fontAlgn="b">
                        <a:buNone/>
                      </a:pPr>
                      <a:r>
                        <a:rPr lang="en-ZA" sz="1100" u="none" strike="noStrike">
                          <a:effectLst/>
                        </a:rPr>
                        <a:t>Grand Total</a:t>
                      </a:r>
                      <a:endParaRPr lang="en-ZA" sz="1100" b="1"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1751429576"/>
                  </a:ext>
                </a:extLst>
              </a:tr>
              <a:tr h="211931">
                <a:tc>
                  <a:txBody>
                    <a:bodyPr/>
                    <a:lstStyle/>
                    <a:p>
                      <a:pPr algn="l" fontAlgn="b">
                        <a:buNone/>
                      </a:pPr>
                      <a:r>
                        <a:rPr lang="en-ZA" sz="1100" u="none" strike="noStrike">
                          <a:effectLst/>
                        </a:rPr>
                        <a:t>Weekday</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36 584</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36 545</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34 381</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107 510</a:t>
                      </a:r>
                      <a:endParaRPr lang="en-ZA" sz="1100" b="1"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1839742470"/>
                  </a:ext>
                </a:extLst>
              </a:tr>
              <a:tr h="211931">
                <a:tc>
                  <a:txBody>
                    <a:bodyPr/>
                    <a:lstStyle/>
                    <a:p>
                      <a:pPr algn="l" fontAlgn="b">
                        <a:buNone/>
                      </a:pPr>
                      <a:r>
                        <a:rPr lang="en-ZA" sz="1100" u="none" strike="noStrike">
                          <a:effectLst/>
                        </a:rPr>
                        <a:t>Bakery</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5 320</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5 459</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5 674</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16 453</a:t>
                      </a:r>
                      <a:endParaRPr lang="en-ZA" sz="1100" b="0" i="0" u="none" strike="noStrike">
                        <a:solidFill>
                          <a:srgbClr val="0061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222655523"/>
                  </a:ext>
                </a:extLst>
              </a:tr>
              <a:tr h="211931">
                <a:tc>
                  <a:txBody>
                    <a:bodyPr/>
                    <a:lstStyle/>
                    <a:p>
                      <a:pPr algn="l" fontAlgn="b">
                        <a:buNone/>
                      </a:pPr>
                      <a:r>
                        <a:rPr lang="en-ZA" sz="1100" u="none" strike="noStrike">
                          <a:effectLst/>
                        </a:rPr>
                        <a:t>Branded</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187</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81</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259</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527</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258731236"/>
                  </a:ext>
                </a:extLst>
              </a:tr>
              <a:tr h="211931">
                <a:tc>
                  <a:txBody>
                    <a:bodyPr/>
                    <a:lstStyle/>
                    <a:p>
                      <a:pPr algn="l" fontAlgn="b">
                        <a:buNone/>
                      </a:pPr>
                      <a:r>
                        <a:rPr lang="en-ZA" sz="1100" u="none" strike="noStrike">
                          <a:effectLst/>
                        </a:rPr>
                        <a:t>Coffee</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14 523</a:t>
                      </a:r>
                      <a:endParaRPr lang="en-ZA" sz="1100" b="0" i="0" u="none" strike="noStrike">
                        <a:solidFill>
                          <a:srgbClr val="0061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14 533</a:t>
                      </a:r>
                      <a:endParaRPr lang="en-ZA" sz="1100" b="0" i="0" u="none" strike="noStrike">
                        <a:solidFill>
                          <a:srgbClr val="0061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13 086</a:t>
                      </a:r>
                      <a:endParaRPr lang="en-ZA" sz="1100" b="0" i="0" u="none" strike="noStrike">
                        <a:solidFill>
                          <a:srgbClr val="0061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42 142</a:t>
                      </a:r>
                      <a:endParaRPr lang="en-ZA" sz="1100" b="0" i="0" u="none" strike="noStrike">
                        <a:solidFill>
                          <a:srgbClr val="0061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3346365717"/>
                  </a:ext>
                </a:extLst>
              </a:tr>
              <a:tr h="211931">
                <a:tc>
                  <a:txBody>
                    <a:bodyPr/>
                    <a:lstStyle/>
                    <a:p>
                      <a:pPr algn="l" fontAlgn="b">
                        <a:buNone/>
                      </a:pPr>
                      <a:r>
                        <a:rPr lang="en-ZA" sz="1100" u="none" strike="noStrike">
                          <a:effectLst/>
                        </a:rPr>
                        <a:t>Coffee beans</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dirty="0">
                          <a:effectLst/>
                        </a:rPr>
                        <a:t>361</a:t>
                      </a:r>
                      <a:endParaRPr lang="en-ZA" sz="1100" b="0" i="0" u="none" strike="noStrike" dirty="0">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522</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370</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1 253</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4115884611"/>
                  </a:ext>
                </a:extLst>
              </a:tr>
              <a:tr h="211931">
                <a:tc>
                  <a:txBody>
                    <a:bodyPr/>
                    <a:lstStyle/>
                    <a:p>
                      <a:pPr algn="l" fontAlgn="b">
                        <a:buNone/>
                      </a:pPr>
                      <a:r>
                        <a:rPr lang="en-ZA" sz="1100" u="none" strike="noStrike">
                          <a:effectLst/>
                        </a:rPr>
                        <a:t>Drinking Chocolate</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3 076</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2 712</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2 468</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8 256</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2790523821"/>
                  </a:ext>
                </a:extLst>
              </a:tr>
              <a:tr h="211931">
                <a:tc>
                  <a:txBody>
                    <a:bodyPr/>
                    <a:lstStyle/>
                    <a:p>
                      <a:pPr algn="l" fontAlgn="b">
                        <a:buNone/>
                      </a:pPr>
                      <a:r>
                        <a:rPr lang="en-ZA" sz="1100" u="none" strike="noStrike">
                          <a:effectLst/>
                        </a:rPr>
                        <a:t>Flavours</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1 068</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1 717</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2 068</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4 853</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3573026033"/>
                  </a:ext>
                </a:extLst>
              </a:tr>
              <a:tr h="211931">
                <a:tc>
                  <a:txBody>
                    <a:bodyPr/>
                    <a:lstStyle/>
                    <a:p>
                      <a:pPr algn="l" fontAlgn="b">
                        <a:buNone/>
                      </a:pPr>
                      <a:r>
                        <a:rPr lang="en-ZA" sz="1100" u="none" strike="noStrike">
                          <a:effectLst/>
                        </a:rPr>
                        <a:t>Loose Tea</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250</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346</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277</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873</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2641702098"/>
                  </a:ext>
                </a:extLst>
              </a:tr>
              <a:tr h="398208">
                <a:tc>
                  <a:txBody>
                    <a:bodyPr/>
                    <a:lstStyle/>
                    <a:p>
                      <a:pPr algn="l" fontAlgn="b">
                        <a:buNone/>
                      </a:pPr>
                      <a:r>
                        <a:rPr lang="en-ZA" sz="1100" u="none" strike="noStrike">
                          <a:effectLst/>
                        </a:rPr>
                        <a:t>Packaged Chocolate</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78</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135</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132</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345</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2905250754"/>
                  </a:ext>
                </a:extLst>
              </a:tr>
              <a:tr h="211931">
                <a:tc>
                  <a:txBody>
                    <a:bodyPr/>
                    <a:lstStyle/>
                    <a:p>
                      <a:pPr algn="l" fontAlgn="b">
                        <a:buNone/>
                      </a:pPr>
                      <a:r>
                        <a:rPr lang="en-ZA" sz="1100" u="none" strike="noStrike">
                          <a:effectLst/>
                        </a:rPr>
                        <a:t>Tea</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11 721</a:t>
                      </a:r>
                      <a:endParaRPr lang="en-ZA" sz="1100" b="0" i="0" u="none" strike="noStrike">
                        <a:solidFill>
                          <a:srgbClr val="0061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11 040</a:t>
                      </a:r>
                      <a:endParaRPr lang="en-ZA" sz="1100" b="0" i="0" u="none" strike="noStrike">
                        <a:solidFill>
                          <a:srgbClr val="0061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10 047</a:t>
                      </a:r>
                      <a:endParaRPr lang="en-ZA" sz="1100" b="0" i="0" u="none" strike="noStrike">
                        <a:solidFill>
                          <a:srgbClr val="0061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32 808</a:t>
                      </a:r>
                      <a:endParaRPr lang="en-ZA" sz="1100" b="0" i="0" u="none" strike="noStrike">
                        <a:solidFill>
                          <a:srgbClr val="0061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3573290761"/>
                  </a:ext>
                </a:extLst>
              </a:tr>
              <a:tr h="211931">
                <a:tc>
                  <a:txBody>
                    <a:bodyPr/>
                    <a:lstStyle/>
                    <a:p>
                      <a:pPr algn="l" fontAlgn="b">
                        <a:buNone/>
                      </a:pPr>
                      <a:r>
                        <a:rPr lang="en-ZA" sz="1100" u="none" strike="noStrike">
                          <a:effectLst/>
                        </a:rPr>
                        <a:t>Weekend</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14 015</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14 190</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13 401</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41 606</a:t>
                      </a:r>
                      <a:endParaRPr lang="en-ZA" sz="1100" b="1" i="0" u="none" strike="noStrike">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3650534579"/>
                  </a:ext>
                </a:extLst>
              </a:tr>
              <a:tr h="211931">
                <a:tc>
                  <a:txBody>
                    <a:bodyPr/>
                    <a:lstStyle/>
                    <a:p>
                      <a:pPr algn="l" fontAlgn="b">
                        <a:buNone/>
                      </a:pPr>
                      <a:r>
                        <a:rPr lang="en-ZA" sz="1100" u="none" strike="noStrike">
                          <a:effectLst/>
                        </a:rPr>
                        <a:t>Bakery</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1 969</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2 158</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2 216</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6 343</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701273675"/>
                  </a:ext>
                </a:extLst>
              </a:tr>
              <a:tr h="211931">
                <a:tc>
                  <a:txBody>
                    <a:bodyPr/>
                    <a:lstStyle/>
                    <a:p>
                      <a:pPr algn="l" fontAlgn="b">
                        <a:buNone/>
                      </a:pPr>
                      <a:r>
                        <a:rPr lang="en-ZA" sz="1100" u="none" strike="noStrike">
                          <a:effectLst/>
                        </a:rPr>
                        <a:t>Branded</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92</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38</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90</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220</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929027069"/>
                  </a:ext>
                </a:extLst>
              </a:tr>
              <a:tr h="211931">
                <a:tc>
                  <a:txBody>
                    <a:bodyPr/>
                    <a:lstStyle/>
                    <a:p>
                      <a:pPr algn="l" fontAlgn="b">
                        <a:buNone/>
                      </a:pPr>
                      <a:r>
                        <a:rPr lang="en-ZA" sz="1100" u="none" strike="noStrike">
                          <a:effectLst/>
                        </a:rPr>
                        <a:t>Coffee</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5 502</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5 654</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5 118</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16 274</a:t>
                      </a:r>
                      <a:endParaRPr lang="en-ZA" sz="1100" b="0" i="0" u="none" strike="noStrike">
                        <a:solidFill>
                          <a:srgbClr val="0061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3942043155"/>
                  </a:ext>
                </a:extLst>
              </a:tr>
              <a:tr h="211931">
                <a:tc>
                  <a:txBody>
                    <a:bodyPr/>
                    <a:lstStyle/>
                    <a:p>
                      <a:pPr algn="l" fontAlgn="b">
                        <a:buNone/>
                      </a:pPr>
                      <a:r>
                        <a:rPr lang="en-ZA" sz="1100" u="none" strike="noStrike">
                          <a:effectLst/>
                        </a:rPr>
                        <a:t>Coffee beans</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141</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198</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161</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500</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2190292977"/>
                  </a:ext>
                </a:extLst>
              </a:tr>
              <a:tr h="211931">
                <a:tc>
                  <a:txBody>
                    <a:bodyPr/>
                    <a:lstStyle/>
                    <a:p>
                      <a:pPr algn="l" fontAlgn="b">
                        <a:buNone/>
                      </a:pPr>
                      <a:r>
                        <a:rPr lang="en-ZA" sz="1100" u="none" strike="noStrike">
                          <a:effectLst/>
                        </a:rPr>
                        <a:t>Drinking Chocolate</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1 224</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1 051</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937</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3 212</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3004295943"/>
                  </a:ext>
                </a:extLst>
              </a:tr>
              <a:tr h="211931">
                <a:tc>
                  <a:txBody>
                    <a:bodyPr/>
                    <a:lstStyle/>
                    <a:p>
                      <a:pPr algn="l" fontAlgn="b">
                        <a:buNone/>
                      </a:pPr>
                      <a:r>
                        <a:rPr lang="en-ZA" sz="1100" u="none" strike="noStrike">
                          <a:effectLst/>
                        </a:rPr>
                        <a:t>Flavours</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422</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653</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862</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1 937</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43721435"/>
                  </a:ext>
                </a:extLst>
              </a:tr>
              <a:tr h="211931">
                <a:tc>
                  <a:txBody>
                    <a:bodyPr/>
                    <a:lstStyle/>
                    <a:p>
                      <a:pPr algn="l" fontAlgn="b">
                        <a:buNone/>
                      </a:pPr>
                      <a:r>
                        <a:rPr lang="en-ZA" sz="1100" u="none" strike="noStrike">
                          <a:effectLst/>
                        </a:rPr>
                        <a:t>Loose Tea</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94</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139</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104</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337</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3519313091"/>
                  </a:ext>
                </a:extLst>
              </a:tr>
              <a:tr h="398208">
                <a:tc>
                  <a:txBody>
                    <a:bodyPr/>
                    <a:lstStyle/>
                    <a:p>
                      <a:pPr algn="l" fontAlgn="b">
                        <a:buNone/>
                      </a:pPr>
                      <a:r>
                        <a:rPr lang="en-ZA" sz="1100" u="none" strike="noStrike">
                          <a:effectLst/>
                        </a:rPr>
                        <a:t>Packaged Chocolate</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32</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62</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48</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142</a:t>
                      </a:r>
                      <a:endParaRPr lang="en-ZA" sz="1100" b="0" i="0" u="none" strike="noStrike">
                        <a:solidFill>
                          <a:srgbClr val="9C0006"/>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1283367347"/>
                  </a:ext>
                </a:extLst>
              </a:tr>
              <a:tr h="211931">
                <a:tc>
                  <a:txBody>
                    <a:bodyPr/>
                    <a:lstStyle/>
                    <a:p>
                      <a:pPr algn="l" fontAlgn="b">
                        <a:buNone/>
                      </a:pPr>
                      <a:r>
                        <a:rPr lang="en-ZA" sz="1100" u="none" strike="noStrike">
                          <a:effectLst/>
                        </a:rPr>
                        <a:t>Tea</a:t>
                      </a:r>
                      <a:endParaRPr lang="en-ZA" sz="1100" b="0" i="0" u="none" strike="noStrike">
                        <a:solidFill>
                          <a:srgbClr val="000000"/>
                        </a:solidFill>
                        <a:effectLst/>
                        <a:latin typeface="Aptos Narrow" panose="020B0004020202020204" pitchFamily="34" charset="0"/>
                      </a:endParaRPr>
                    </a:p>
                  </a:txBody>
                  <a:tcPr marL="71438" marR="4763" marT="4763" marB="0" anchor="b"/>
                </a:tc>
                <a:tc>
                  <a:txBody>
                    <a:bodyPr/>
                    <a:lstStyle/>
                    <a:p>
                      <a:pPr algn="r" fontAlgn="b">
                        <a:buNone/>
                      </a:pPr>
                      <a:r>
                        <a:rPr lang="en-ZA" sz="1100" u="none" strike="noStrike">
                          <a:effectLst/>
                        </a:rPr>
                        <a:t>4 539</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4 237</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3 865</a:t>
                      </a:r>
                      <a:endParaRPr lang="en-ZA" sz="1100" b="0" i="0" u="none" strike="noStrike">
                        <a:solidFill>
                          <a:srgbClr val="9C0006"/>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12 641</a:t>
                      </a:r>
                      <a:endParaRPr lang="en-ZA" sz="1100" b="0" i="0" u="none" strike="noStrike">
                        <a:solidFill>
                          <a:srgbClr val="0061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2225352986"/>
                  </a:ext>
                </a:extLst>
              </a:tr>
              <a:tr h="211931">
                <a:tc>
                  <a:txBody>
                    <a:bodyPr/>
                    <a:lstStyle/>
                    <a:p>
                      <a:pPr algn="l" fontAlgn="b">
                        <a:buNone/>
                      </a:pPr>
                      <a:r>
                        <a:rPr lang="en-ZA" sz="1100" u="none" strike="noStrike">
                          <a:effectLst/>
                        </a:rPr>
                        <a:t>Grand Total</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50 599</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50 735</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a:effectLst/>
                        </a:rPr>
                        <a:t>47 782</a:t>
                      </a:r>
                      <a:endParaRPr lang="en-ZA" sz="1100" b="1" i="0" u="none" strike="noStrike">
                        <a:solidFill>
                          <a:srgbClr val="000000"/>
                        </a:solidFill>
                        <a:effectLst/>
                        <a:latin typeface="Aptos Narrow" panose="020B0004020202020204" pitchFamily="34" charset="0"/>
                      </a:endParaRPr>
                    </a:p>
                  </a:txBody>
                  <a:tcPr marL="4763" marR="4763" marT="4763" marB="0" anchor="b"/>
                </a:tc>
                <a:tc>
                  <a:txBody>
                    <a:bodyPr/>
                    <a:lstStyle/>
                    <a:p>
                      <a:pPr algn="r" fontAlgn="b">
                        <a:buNone/>
                      </a:pPr>
                      <a:r>
                        <a:rPr lang="en-ZA" sz="1100" u="none" strike="noStrike" dirty="0">
                          <a:effectLst/>
                        </a:rPr>
                        <a:t>149 116</a:t>
                      </a:r>
                      <a:endParaRPr lang="en-ZA" sz="1100" b="1" i="0" u="none" strike="noStrike" dirty="0">
                        <a:solidFill>
                          <a:srgbClr val="000000"/>
                        </a:solidFill>
                        <a:effectLst/>
                        <a:latin typeface="Aptos Narrow" panose="020B0004020202020204" pitchFamily="34" charset="0"/>
                      </a:endParaRPr>
                    </a:p>
                  </a:txBody>
                  <a:tcPr marL="4763" marR="4763" marT="4763" marB="0" anchor="b"/>
                </a:tc>
                <a:extLst>
                  <a:ext uri="{0D108BD9-81ED-4DB2-BD59-A6C34878D82A}">
                    <a16:rowId xmlns:a16="http://schemas.microsoft.com/office/drawing/2014/main" val="2641183867"/>
                  </a:ext>
                </a:extLst>
              </a:tr>
            </a:tbl>
          </a:graphicData>
        </a:graphic>
      </p:graphicFrame>
    </p:spTree>
    <p:extLst>
      <p:ext uri="{BB962C8B-B14F-4D97-AF65-F5344CB8AC3E}">
        <p14:creationId xmlns:p14="http://schemas.microsoft.com/office/powerpoint/2010/main" val="2160541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B93715-1F0A-D5E2-D3E9-87981A758255}"/>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6615F35E-261F-19EA-2DE3-36CB4027B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52267"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D22086-099A-EDD6-6041-99397C155546}"/>
              </a:ext>
            </a:extLst>
          </p:cNvPr>
          <p:cNvSpPr>
            <a:spLocks noGrp="1"/>
          </p:cNvSpPr>
          <p:nvPr>
            <p:ph type="title"/>
          </p:nvPr>
        </p:nvSpPr>
        <p:spPr>
          <a:xfrm>
            <a:off x="-2" y="1"/>
            <a:ext cx="7552267" cy="6905846"/>
          </a:xfrm>
        </p:spPr>
        <p:txBody>
          <a:bodyPr>
            <a:normAutofit/>
          </a:bodyPr>
          <a:lstStyle/>
          <a:p>
            <a:r>
              <a:rPr lang="en-US" b="1" dirty="0">
                <a:solidFill>
                  <a:srgbClr val="FFFFFF"/>
                </a:solidFill>
              </a:rPr>
              <a:t>  </a:t>
            </a:r>
            <a:r>
              <a:rPr lang="en-US" sz="6600" b="1" dirty="0">
                <a:solidFill>
                  <a:srgbClr val="FFFFFF"/>
                </a:solidFill>
              </a:rPr>
              <a:t>Product ANALYSIS</a:t>
            </a:r>
            <a:endParaRPr lang="en-US" b="1" dirty="0">
              <a:solidFill>
                <a:srgbClr val="FFFFFF"/>
              </a:solidFill>
            </a:endParaRPr>
          </a:p>
        </p:txBody>
      </p:sp>
      <p:cxnSp>
        <p:nvCxnSpPr>
          <p:cNvPr id="21" name="Straight Connector 20">
            <a:extLst>
              <a:ext uri="{FF2B5EF4-FFF2-40B4-BE49-F238E27FC236}">
                <a16:creationId xmlns:a16="http://schemas.microsoft.com/office/drawing/2014/main" id="{6F016D9B-6F81-4E0F-019F-608EAA47EF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pic>
        <p:nvPicPr>
          <p:cNvPr id="15" name="Picture 14" descr="Calculator, pen, compass, money and a paper with graphs printed on it">
            <a:extLst>
              <a:ext uri="{FF2B5EF4-FFF2-40B4-BE49-F238E27FC236}">
                <a16:creationId xmlns:a16="http://schemas.microsoft.com/office/drawing/2014/main" id="{EC5B96B1-CD76-C33B-7FE3-C85A136AD939}"/>
              </a:ext>
            </a:extLst>
          </p:cNvPr>
          <p:cNvPicPr>
            <a:picLocks noChangeAspect="1"/>
          </p:cNvPicPr>
          <p:nvPr/>
        </p:nvPicPr>
        <p:blipFill>
          <a:blip r:embed="rId3"/>
          <a:srcRect l="31730" r="27507" b="-1"/>
          <a:stretch>
            <a:fillRect/>
          </a:stretch>
        </p:blipFill>
        <p:spPr>
          <a:xfrm>
            <a:off x="7552266" y="10"/>
            <a:ext cx="4639734" cy="6857990"/>
          </a:xfrm>
          <a:prstGeom prst="rect">
            <a:avLst/>
          </a:prstGeom>
        </p:spPr>
      </p:pic>
    </p:spTree>
    <p:extLst>
      <p:ext uri="{BB962C8B-B14F-4D97-AF65-F5344CB8AC3E}">
        <p14:creationId xmlns:p14="http://schemas.microsoft.com/office/powerpoint/2010/main" val="654880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24258-93BD-A8F8-563A-58612128A68D}"/>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8D535061-D9F3-1B12-9C0A-CC3786F58713}"/>
              </a:ext>
            </a:extLst>
          </p:cNvPr>
          <p:cNvSpPr>
            <a:spLocks noGrp="1"/>
          </p:cNvSpPr>
          <p:nvPr>
            <p:ph type="title"/>
          </p:nvPr>
        </p:nvSpPr>
        <p:spPr>
          <a:xfrm>
            <a:off x="798511" y="0"/>
            <a:ext cx="4916487" cy="1015409"/>
          </a:xfrm>
        </p:spPr>
        <p:txBody>
          <a:bodyPr/>
          <a:lstStyle/>
          <a:p>
            <a:pPr algn="ctr"/>
            <a:br>
              <a:rPr lang="en-US" sz="3200" dirty="0"/>
            </a:br>
            <a:r>
              <a:rPr lang="en-US" sz="3200" b="1" dirty="0"/>
              <a:t>TOP 30 PRODUCTS BY REVENUE</a:t>
            </a:r>
            <a:br>
              <a:rPr lang="en-US" dirty="0"/>
            </a:br>
            <a:endParaRPr lang="en-ZA" dirty="0"/>
          </a:p>
        </p:txBody>
      </p:sp>
      <p:sp>
        <p:nvSpPr>
          <p:cNvPr id="17" name="Text Placeholder 16">
            <a:extLst>
              <a:ext uri="{FF2B5EF4-FFF2-40B4-BE49-F238E27FC236}">
                <a16:creationId xmlns:a16="http://schemas.microsoft.com/office/drawing/2014/main" id="{3BF73855-3E1F-02A4-1232-C401B186B8E6}"/>
              </a:ext>
            </a:extLst>
          </p:cNvPr>
          <p:cNvSpPr>
            <a:spLocks noGrp="1"/>
          </p:cNvSpPr>
          <p:nvPr>
            <p:ph type="body" sz="half" idx="2"/>
          </p:nvPr>
        </p:nvSpPr>
        <p:spPr>
          <a:xfrm>
            <a:off x="798511" y="822325"/>
            <a:ext cx="5001549" cy="5886819"/>
          </a:xfrm>
        </p:spPr>
        <p:txBody>
          <a:bodyPr/>
          <a:lstStyle/>
          <a:p>
            <a:pPr marL="285750" indent="-285750">
              <a:buFont typeface="Wingdings" panose="05000000000000000000" pitchFamily="2" charset="2"/>
              <a:buChar char="§"/>
            </a:pPr>
            <a:r>
              <a:rPr lang="en-ZA" sz="1400" b="1" dirty="0"/>
              <a:t>Coffee is the backbone: </a:t>
            </a:r>
            <a:r>
              <a:rPr lang="en-ZA" sz="1400" dirty="0"/>
              <a:t>Multiple coffee variants (Latte, Cappuccino, Ethiopian, Brazilian, Jamaican blends, Espresso) dominate the list, showing coffee as the primary revenue driver.</a:t>
            </a:r>
          </a:p>
          <a:p>
            <a:pPr marL="285750" indent="-285750">
              <a:buFont typeface="Wingdings" panose="05000000000000000000" pitchFamily="2" charset="2"/>
              <a:buChar char="§"/>
            </a:pPr>
            <a:r>
              <a:rPr lang="en-US" sz="1400" b="1" dirty="0"/>
              <a:t>Drinking Chocolate is highly profitable: </a:t>
            </a:r>
            <a:r>
              <a:rPr lang="en-US" sz="1400" dirty="0"/>
              <a:t>Sustainably Grown Organic and Dark Chocolate (both large and regular sizes) top the list, collectively generating over R72k, making chocolate drinks a strong competitor to coffee.</a:t>
            </a:r>
          </a:p>
          <a:p>
            <a:pPr marL="285750" indent="-285750">
              <a:buFont typeface="Wingdings" panose="05000000000000000000" pitchFamily="2" charset="2"/>
              <a:buChar char="§"/>
            </a:pPr>
            <a:r>
              <a:rPr lang="en-US" sz="1400" b="1" dirty="0"/>
              <a:t>Tea &amp; Loose Tea hold strong positions: </a:t>
            </a:r>
            <a:r>
              <a:rPr lang="en-US" sz="1400" dirty="0"/>
              <a:t>Morning Sunrise Chai, Serenity Green Tea, Earl Grey, Peppermint, and English Breakfast consistently appear, confirming tea’s importance in diversifying revenue streams.</a:t>
            </a:r>
          </a:p>
          <a:p>
            <a:pPr marL="285750" indent="-285750">
              <a:buFont typeface="Wingdings" panose="05000000000000000000" pitchFamily="2" charset="2"/>
              <a:buChar char="§"/>
            </a:pPr>
            <a:r>
              <a:rPr lang="en-US" sz="1400" b="1" dirty="0"/>
              <a:t>Bakery presence is limited but impactful: </a:t>
            </a:r>
            <a:r>
              <a:rPr lang="en-US" sz="1400" dirty="0"/>
              <a:t>Chocolate Croissant is the only bakery item in the top 30, yet it generates R11,625.98, showing potential for expanding bakery offerings.</a:t>
            </a:r>
          </a:p>
          <a:p>
            <a:pPr marL="285750" indent="-285750">
              <a:buFont typeface="Wingdings" panose="05000000000000000000" pitchFamily="2" charset="2"/>
              <a:buChar char="§"/>
            </a:pPr>
            <a:r>
              <a:rPr lang="en-US" sz="1400" b="1" dirty="0"/>
              <a:t>Specialty &amp; premium products stand out</a:t>
            </a:r>
            <a:r>
              <a:rPr lang="en-US" sz="1400" dirty="0"/>
              <a:t>: Items like Civet Cat Coffee Beans (R11,700) and Jamaican Coffee River blends highlight demand for unique, premium experiences.</a:t>
            </a:r>
          </a:p>
          <a:p>
            <a:pPr marL="285750" indent="-285750">
              <a:buFont typeface="Wingdings" panose="05000000000000000000" pitchFamily="2" charset="2"/>
              <a:buChar char="§"/>
            </a:pPr>
            <a:r>
              <a:rPr lang="en-ZA" dirty="0"/>
              <a:t>Large sizes outperform regular sizes: Across categories (coffee, tea, chocolate), large servings consistently generate higher revenue, suggesting upselling larger sizes is a proven strategy.</a:t>
            </a:r>
          </a:p>
        </p:txBody>
      </p:sp>
      <mc:AlternateContent xmlns:mc="http://schemas.openxmlformats.org/markup-compatibility/2006">
        <mc:Choice xmlns:cx1="http://schemas.microsoft.com/office/drawing/2015/9/8/chartex" Requires="cx1">
          <p:graphicFrame>
            <p:nvGraphicFramePr>
              <p:cNvPr id="4" name="Content Placeholder 3">
                <a:extLst>
                  <a:ext uri="{FF2B5EF4-FFF2-40B4-BE49-F238E27FC236}">
                    <a16:creationId xmlns:a16="http://schemas.microsoft.com/office/drawing/2014/main" id="{5E7501FC-9E82-3A39-6055-351E367C76B0}"/>
                  </a:ext>
                </a:extLst>
              </p:cNvPr>
              <p:cNvGraphicFramePr>
                <a:graphicFrameLocks noGrp="1"/>
              </p:cNvGraphicFramePr>
              <p:nvPr>
                <p:ph idx="1"/>
                <p:extLst>
                  <p:ext uri="{D42A27DB-BD31-4B8C-83A1-F6EECF244321}">
                    <p14:modId xmlns:p14="http://schemas.microsoft.com/office/powerpoint/2010/main" val="3790903582"/>
                  </p:ext>
                </p:extLst>
              </p:nvPr>
            </p:nvGraphicFramePr>
            <p:xfrm>
              <a:off x="5943601" y="678786"/>
              <a:ext cx="5970180" cy="6030358"/>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4" name="Content Placeholder 3">
                <a:extLst>
                  <a:ext uri="{FF2B5EF4-FFF2-40B4-BE49-F238E27FC236}">
                    <a16:creationId xmlns:a16="http://schemas.microsoft.com/office/drawing/2014/main" id="{5E7501FC-9E82-3A39-6055-351E367C76B0}"/>
                  </a:ext>
                </a:extLst>
              </p:cNvPr>
              <p:cNvPicPr>
                <a:picLocks noGrp="1" noRot="1" noChangeAspect="1" noMove="1" noResize="1" noEditPoints="1" noAdjustHandles="1" noChangeArrowheads="1" noChangeShapeType="1"/>
              </p:cNvPicPr>
              <p:nvPr/>
            </p:nvPicPr>
            <p:blipFill>
              <a:blip r:embed="rId3"/>
              <a:stretch>
                <a:fillRect/>
              </a:stretch>
            </p:blipFill>
            <p:spPr>
              <a:xfrm>
                <a:off x="5943601" y="678786"/>
                <a:ext cx="5970180" cy="6030358"/>
              </a:xfrm>
              <a:prstGeom prst="rect">
                <a:avLst/>
              </a:prstGeom>
            </p:spPr>
          </p:pic>
        </mc:Fallback>
      </mc:AlternateContent>
    </p:spTree>
    <p:extLst>
      <p:ext uri="{BB962C8B-B14F-4D97-AF65-F5344CB8AC3E}">
        <p14:creationId xmlns:p14="http://schemas.microsoft.com/office/powerpoint/2010/main" val="1314713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3891CF-C273-B62E-0283-3FE7AFCBFF8E}"/>
            </a:ext>
          </a:extLst>
        </p:cNvPr>
        <p:cNvGrpSpPr/>
        <p:nvPr/>
      </p:nvGrpSpPr>
      <p:grpSpPr>
        <a:xfrm>
          <a:off x="0" y="0"/>
          <a:ext cx="0" cy="0"/>
          <a:chOff x="0" y="0"/>
          <a:chExt cx="0" cy="0"/>
        </a:xfrm>
      </p:grpSpPr>
      <p:pic>
        <p:nvPicPr>
          <p:cNvPr id="7" name="Picture 6" descr="Espresso machine with ground coffee">
            <a:extLst>
              <a:ext uri="{FF2B5EF4-FFF2-40B4-BE49-F238E27FC236}">
                <a16:creationId xmlns:a16="http://schemas.microsoft.com/office/drawing/2014/main" id="{D58E4D9A-39DA-F45C-BB58-5A34E5F91B73}"/>
              </a:ext>
            </a:extLst>
          </p:cNvPr>
          <p:cNvPicPr>
            <a:picLocks noChangeAspect="1"/>
          </p:cNvPicPr>
          <p:nvPr/>
        </p:nvPicPr>
        <p:blipFill>
          <a:blip r:embed="rId2"/>
          <a:srcRect t="23391" r="9091"/>
          <a:stretch>
            <a:fillRect/>
          </a:stretch>
        </p:blipFill>
        <p:spPr>
          <a:xfrm>
            <a:off x="-217948" y="85070"/>
            <a:ext cx="12191980" cy="6857990"/>
          </a:xfrm>
          <a:prstGeom prst="rect">
            <a:avLst/>
          </a:prstGeom>
        </p:spPr>
      </p:pic>
      <p:sp>
        <p:nvSpPr>
          <p:cNvPr id="16" name="Rectangle 15">
            <a:extLst>
              <a:ext uri="{FF2B5EF4-FFF2-40B4-BE49-F238E27FC236}">
                <a16:creationId xmlns:a16="http://schemas.microsoft.com/office/drawing/2014/main" id="{EC40E17A-97FD-E7C7-9847-A04945E400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52265" cy="6858000"/>
          </a:xfrm>
          <a:prstGeom prst="rect">
            <a:avLst/>
          </a:prstGeom>
          <a:solidFill>
            <a:srgbClr val="FFFFF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667C2CE0-7D89-3004-601B-49D8006C71E9}"/>
              </a:ext>
            </a:extLst>
          </p:cNvPr>
          <p:cNvSpPr>
            <a:spLocks noGrp="1"/>
          </p:cNvSpPr>
          <p:nvPr>
            <p:ph type="title"/>
          </p:nvPr>
        </p:nvSpPr>
        <p:spPr>
          <a:xfrm>
            <a:off x="1024127" y="164805"/>
            <a:ext cx="10182587" cy="914400"/>
          </a:xfrm>
        </p:spPr>
        <p:txBody>
          <a:bodyPr>
            <a:noAutofit/>
          </a:bodyPr>
          <a:lstStyle/>
          <a:p>
            <a:pPr algn="ctr"/>
            <a:r>
              <a:rPr lang="en-ZA" sz="4400" b="1" dirty="0">
                <a:solidFill>
                  <a:srgbClr val="000000"/>
                </a:solidFill>
              </a:rPr>
              <a:t>STRATRGIC Recommendations</a:t>
            </a:r>
          </a:p>
        </p:txBody>
      </p:sp>
      <p:cxnSp>
        <p:nvCxnSpPr>
          <p:cNvPr id="18" name="Straight Connector 17">
            <a:extLst>
              <a:ext uri="{FF2B5EF4-FFF2-40B4-BE49-F238E27FC236}">
                <a16:creationId xmlns:a16="http://schemas.microsoft.com/office/drawing/2014/main" id="{D28EED38-2FD0-9D37-6CC1-F5100A8691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F5837637-5000-8DA8-7301-CE28F7AD8F5E}"/>
              </a:ext>
            </a:extLst>
          </p:cNvPr>
          <p:cNvGraphicFramePr>
            <a:graphicFrameLocks noGrp="1"/>
          </p:cNvGraphicFramePr>
          <p:nvPr>
            <p:ph idx="1"/>
            <p:extLst>
              <p:ext uri="{D42A27DB-BD31-4B8C-83A1-F6EECF244321}">
                <p14:modId xmlns:p14="http://schemas.microsoft.com/office/powerpoint/2010/main" val="1396203766"/>
              </p:ext>
            </p:extLst>
          </p:nvPr>
        </p:nvGraphicFramePr>
        <p:xfrm>
          <a:off x="639724" y="1079206"/>
          <a:ext cx="10912545" cy="55703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68205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19"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cxnSp>
        <p:nvCxnSpPr>
          <p:cNvPr id="21" name="Straight Connector 20">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3" name="Rectangle 22">
            <a:extLst>
              <a:ext uri="{FF2B5EF4-FFF2-40B4-BE49-F238E27FC236}">
                <a16:creationId xmlns:a16="http://schemas.microsoft.com/office/drawing/2014/main" id="{B8D726A5-7900-41B4-8D49-49B4A201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estaurant Open Sign">
            <a:extLst>
              <a:ext uri="{FF2B5EF4-FFF2-40B4-BE49-F238E27FC236}">
                <a16:creationId xmlns:a16="http://schemas.microsoft.com/office/drawing/2014/main" id="{4BB88093-7048-42AA-9AFC-B007B4E797A0}"/>
              </a:ext>
            </a:extLst>
          </p:cNvPr>
          <p:cNvPicPr>
            <a:picLocks noChangeAspect="1"/>
          </p:cNvPicPr>
          <p:nvPr/>
        </p:nvPicPr>
        <p:blipFill rotWithShape="1">
          <a:blip r:embed="rId3" cstate="screen">
            <a:alphaModFix amt="45000"/>
            <a:extLst>
              <a:ext uri="{28A0092B-C50C-407E-A947-70E740481C1C}">
                <a14:useLocalDpi xmlns:a14="http://schemas.microsoft.com/office/drawing/2010/main"/>
              </a:ext>
            </a:extLst>
          </a:blip>
          <a:srcRect t="26349" r="1" b="18653"/>
          <a:stretch>
            <a:fillRect/>
          </a:stretch>
        </p:blipFill>
        <p:spPr>
          <a:xfrm>
            <a:off x="20" y="-1"/>
            <a:ext cx="12188932" cy="6858000"/>
          </a:xfrm>
          <a:prstGeom prst="rect">
            <a:avLst/>
          </a:prstGeom>
        </p:spPr>
      </p:pic>
      <p:sp>
        <p:nvSpPr>
          <p:cNvPr id="2" name="Title 1">
            <a:extLst>
              <a:ext uri="{FF2B5EF4-FFF2-40B4-BE49-F238E27FC236}">
                <a16:creationId xmlns:a16="http://schemas.microsoft.com/office/drawing/2014/main" id="{BD904461-E85A-43E7-AA0B-B7DF596CA62F}"/>
              </a:ext>
            </a:extLst>
          </p:cNvPr>
          <p:cNvSpPr>
            <a:spLocks noGrp="1"/>
          </p:cNvSpPr>
          <p:nvPr>
            <p:ph type="title"/>
          </p:nvPr>
        </p:nvSpPr>
        <p:spPr>
          <a:xfrm>
            <a:off x="643467" y="643467"/>
            <a:ext cx="7164674" cy="5571066"/>
          </a:xfrm>
          <a:prstGeom prst="rect">
            <a:avLst/>
          </a:prstGeom>
        </p:spPr>
        <p:txBody>
          <a:bodyPr vert="horz" lIns="91440" tIns="45720" rIns="91440" bIns="45720" rtlCol="0" anchor="ctr">
            <a:normAutofit/>
          </a:bodyPr>
          <a:lstStyle/>
          <a:p>
            <a:pPr algn="r"/>
            <a:r>
              <a:rPr lang="en-US" sz="6600" b="1" kern="1200" cap="all" spc="200" baseline="0">
                <a:solidFill>
                  <a:schemeClr val="tx1"/>
                </a:solidFill>
                <a:latin typeface="+mj-lt"/>
                <a:ea typeface="+mj-ea"/>
                <a:cs typeface="+mj-cs"/>
              </a:rPr>
              <a:t>Thank You</a:t>
            </a:r>
          </a:p>
        </p:txBody>
      </p:sp>
      <p:cxnSp>
        <p:nvCxnSpPr>
          <p:cNvPr id="25" name="Straight Connector 24">
            <a:extLst>
              <a:ext uri="{FF2B5EF4-FFF2-40B4-BE49-F238E27FC236}">
                <a16:creationId xmlns:a16="http://schemas.microsoft.com/office/drawing/2014/main" id="{46E49661-E258-450C-8150-A91A6B30D1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39605" y="1828800"/>
            <a:ext cx="0" cy="320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704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231547-F69E-41A9-93A9-B70B5E3064F1}">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7A7C301-87CC-4EB1-AF40-15075522FC58}">
  <ds:schemaRefs>
    <ds:schemaRef ds:uri="http://schemas.microsoft.com/sharepoint/v3/contenttype/forms"/>
  </ds:schemaRefs>
</ds:datastoreItem>
</file>

<file path=customXml/itemProps3.xml><?xml version="1.0" encoding="utf-8"?>
<ds:datastoreItem xmlns:ds="http://schemas.openxmlformats.org/officeDocument/2006/customXml" ds:itemID="{6EA402E5-52EF-430B-8CCB-B4AAA8C467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Retail design</Template>
  <TotalTime>228</TotalTime>
  <Words>1630</Words>
  <Application>Microsoft Office PowerPoint</Application>
  <PresentationFormat>Widescreen</PresentationFormat>
  <Paragraphs>205</Paragraphs>
  <Slides>13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 Narrow</vt:lpstr>
      <vt:lpstr>Arial</vt:lpstr>
      <vt:lpstr>Calibri</vt:lpstr>
      <vt:lpstr>Tw Cen MT</vt:lpstr>
      <vt:lpstr>Tw Cen MT Condensed</vt:lpstr>
      <vt:lpstr>Wingdings</vt:lpstr>
      <vt:lpstr>Wingdings 3</vt:lpstr>
      <vt:lpstr>Integral</vt:lpstr>
      <vt:lpstr> Bright Coffee SHOP  </vt:lpstr>
      <vt:lpstr>Problem statement</vt:lpstr>
      <vt:lpstr>Bright Coffee Shop Sales Insights</vt:lpstr>
      <vt:lpstr>    REVENUE ANALYSIS</vt:lpstr>
      <vt:lpstr>Revenue BY MONTH </vt:lpstr>
      <vt:lpstr>  Revenue Contribution by Day Breakdown </vt:lpstr>
      <vt:lpstr>  store Location   ANALYSIS</vt:lpstr>
      <vt:lpstr>Revenue By sore &amp; Day breakdown </vt:lpstr>
      <vt:lpstr>  Quantities sold per product &amp; store location </vt:lpstr>
      <vt:lpstr>  Product ANALYSIS</vt:lpstr>
      <vt:lpstr> TOP 30 PRODUCTS BY REVENUE </vt:lpstr>
      <vt:lpstr>STRATRGIC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Keketso Sangweni</dc:creator>
  <cp:lastModifiedBy>Keketso Sangweni</cp:lastModifiedBy>
  <cp:revision>1</cp:revision>
  <dcterms:created xsi:type="dcterms:W3CDTF">2026-03-30T16:51:36Z</dcterms:created>
  <dcterms:modified xsi:type="dcterms:W3CDTF">2026-03-30T20:40:18Z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